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</p:sldIdLst>
  <p:sldSz cx="12192000" cy="6858000"/>
  <p:notesSz cx="6858000" cy="9144000"/>
  <p:defaultTextStyle>
    <a:defPPr>
      <a:defRPr lang="en-S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35"/>
    <p:restoredTop sz="94722"/>
  </p:normalViewPr>
  <p:slideViewPr>
    <p:cSldViewPr snapToGrid="0">
      <p:cViewPr>
        <p:scale>
          <a:sx n="60" d="100"/>
          <a:sy n="60" d="100"/>
        </p:scale>
        <p:origin x="864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8C92AB-D6FA-4393-9C15-E757F5C9DFBE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2FDC2E-5F3C-48D3-8421-143C35579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470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FDC2E-5F3C-48D3-8421-143C35579E8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911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7854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9A9FE-050F-55D0-0FBA-4FF1F045D1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#PTE2026 — type here …</a:t>
            </a:r>
            <a:endParaRPr lang="en-S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EEE09B-26B8-98F0-5801-4BEE8EABD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702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O" dirty="0"/>
          </a:p>
        </p:txBody>
      </p:sp>
    </p:spTree>
    <p:extLst>
      <p:ext uri="{BB962C8B-B14F-4D97-AF65-F5344CB8AC3E}">
        <p14:creationId xmlns:p14="http://schemas.microsoft.com/office/powerpoint/2010/main" val="2697863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8062E-D7CB-5A36-8A36-E195F003BC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40167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#PTE2026 — type here …</a:t>
            </a:r>
            <a:endParaRPr lang="en-SO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0A8EF2-1D34-6163-9141-BFFC7C5DBC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119892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5053E-D713-FFF4-D320-97042E50A0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4886779"/>
            <a:ext cx="2743200" cy="365125"/>
          </a:xfrm>
          <a:prstGeom prst="rect">
            <a:avLst/>
          </a:prstGeom>
        </p:spPr>
        <p:txBody>
          <a:bodyPr/>
          <a:lstStyle/>
          <a:p>
            <a:fld id="{72A1F6AC-92C5-8942-B86B-05B3EEAFFFCB}" type="datetimeFigureOut">
              <a:rPr lang="en-SO" smtClean="0"/>
              <a:t>01/01/2026</a:t>
            </a:fld>
            <a:endParaRPr lang="en-S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F9E4DC-62F7-3737-F2A1-87F5D9415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4886779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CEAA9D-202D-1424-9BF2-615082436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4886779"/>
            <a:ext cx="2743200" cy="365125"/>
          </a:xfrm>
          <a:prstGeom prst="rect">
            <a:avLst/>
          </a:prstGeom>
        </p:spPr>
        <p:txBody>
          <a:bodyPr/>
          <a:lstStyle/>
          <a:p>
            <a:fld id="{A365224D-525F-974B-A467-E503430C5389}" type="slidenum">
              <a:rPr lang="en-SO" smtClean="0"/>
              <a:t>‹#›</a:t>
            </a:fld>
            <a:endParaRPr lang="en-SO"/>
          </a:p>
        </p:txBody>
      </p:sp>
    </p:spTree>
    <p:extLst>
      <p:ext uri="{BB962C8B-B14F-4D97-AF65-F5344CB8AC3E}">
        <p14:creationId xmlns:p14="http://schemas.microsoft.com/office/powerpoint/2010/main" val="1984090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2C3D0-9614-35E6-88C1-679EDF9024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#PTE2026 — type here …</a:t>
            </a:r>
            <a:endParaRPr lang="en-S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72C2F-30C2-D2EE-8B62-6A786B5FD7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34702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FAC478-45EB-ECD4-873A-7F54E9C7A2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4702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O"/>
          </a:p>
        </p:txBody>
      </p:sp>
    </p:spTree>
    <p:extLst>
      <p:ext uri="{BB962C8B-B14F-4D97-AF65-F5344CB8AC3E}">
        <p14:creationId xmlns:p14="http://schemas.microsoft.com/office/powerpoint/2010/main" val="86458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25D6E-B499-1288-B186-88E3726615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#PTE2026 — type here …</a:t>
            </a:r>
            <a:endParaRPr lang="en-SO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BCCB81-D830-DA54-E301-7D3C167CB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55D8E8-0461-D25F-5B70-F7786C80D7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26717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8BDCA0-D455-E0D8-937A-FDA766C531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E228B9-3978-F99E-EC3D-8525965BE9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26717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O"/>
          </a:p>
        </p:txBody>
      </p:sp>
    </p:spTree>
    <p:extLst>
      <p:ext uri="{BB962C8B-B14F-4D97-AF65-F5344CB8AC3E}">
        <p14:creationId xmlns:p14="http://schemas.microsoft.com/office/powerpoint/2010/main" val="699698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F841C-576C-CD10-030D-EA731BFAD2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#PTE2026 — type here …</a:t>
            </a:r>
            <a:endParaRPr lang="en-SO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482C2D-9F33-F2D8-672E-73D9F23AC9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4806950"/>
            <a:ext cx="2743200" cy="365125"/>
          </a:xfrm>
          <a:prstGeom prst="rect">
            <a:avLst/>
          </a:prstGeom>
        </p:spPr>
        <p:txBody>
          <a:bodyPr/>
          <a:lstStyle/>
          <a:p>
            <a:fld id="{72A1F6AC-92C5-8942-B86B-05B3EEAFFFCB}" type="datetimeFigureOut">
              <a:rPr lang="en-SO" smtClean="0"/>
              <a:t>01/01/2026</a:t>
            </a:fld>
            <a:endParaRPr lang="en-S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80EE4F-6A2F-0290-324D-B948FB464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48069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335B8C-2A07-6F85-A84B-68F7A0A09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4806950"/>
            <a:ext cx="2743200" cy="365125"/>
          </a:xfrm>
          <a:prstGeom prst="rect">
            <a:avLst/>
          </a:prstGeom>
        </p:spPr>
        <p:txBody>
          <a:bodyPr/>
          <a:lstStyle/>
          <a:p>
            <a:fld id="{A365224D-525F-974B-A467-E503430C5389}" type="slidenum">
              <a:rPr lang="en-SO" smtClean="0"/>
              <a:t>‹#›</a:t>
            </a:fld>
            <a:endParaRPr lang="en-SO"/>
          </a:p>
        </p:txBody>
      </p:sp>
    </p:spTree>
    <p:extLst>
      <p:ext uri="{BB962C8B-B14F-4D97-AF65-F5344CB8AC3E}">
        <p14:creationId xmlns:p14="http://schemas.microsoft.com/office/powerpoint/2010/main" val="2332235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0026E2-5ABC-6EF7-2AAF-FE7AB76984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4921250"/>
            <a:ext cx="2743200" cy="365125"/>
          </a:xfrm>
          <a:prstGeom prst="rect">
            <a:avLst/>
          </a:prstGeom>
        </p:spPr>
        <p:txBody>
          <a:bodyPr/>
          <a:lstStyle/>
          <a:p>
            <a:fld id="{72A1F6AC-92C5-8942-B86B-05B3EEAFFFCB}" type="datetimeFigureOut">
              <a:rPr lang="en-SO" smtClean="0"/>
              <a:t>01/01/2026</a:t>
            </a:fld>
            <a:endParaRPr lang="en-S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006FA5-F113-D4B1-3849-BAFD6A2A9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49212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D0AD45-8592-2C1C-2C2C-084B2E8B7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4921250"/>
            <a:ext cx="2743200" cy="365125"/>
          </a:xfrm>
          <a:prstGeom prst="rect">
            <a:avLst/>
          </a:prstGeom>
        </p:spPr>
        <p:txBody>
          <a:bodyPr/>
          <a:lstStyle/>
          <a:p>
            <a:fld id="{A365224D-525F-974B-A467-E503430C5389}" type="slidenum">
              <a:rPr lang="en-SO" smtClean="0"/>
              <a:t>‹#›</a:t>
            </a:fld>
            <a:endParaRPr lang="en-SO"/>
          </a:p>
        </p:txBody>
      </p:sp>
    </p:spTree>
    <p:extLst>
      <p:ext uri="{BB962C8B-B14F-4D97-AF65-F5344CB8AC3E}">
        <p14:creationId xmlns:p14="http://schemas.microsoft.com/office/powerpoint/2010/main" val="2154186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FE3D6-C495-F145-24E2-5BCA3CED09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#PTE2026 — type here …</a:t>
            </a:r>
            <a:endParaRPr lang="en-S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D49CF-B02F-E8C5-0691-0B3DF17B56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36010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C3030B-3AF1-4392-6258-557275FCA7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2901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64727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8A330-68DA-2693-F4FF-A46ABC33FF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#PTE2026 — type here …</a:t>
            </a:r>
            <a:endParaRPr lang="en-SO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971663-45FE-F2B1-28A6-72E88E662B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1560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9B2E50-4E34-F788-B1C9-50D8AF9956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2504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5BC339-546C-11A5-6861-D2DB91AA7E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2A1F6AC-92C5-8942-B86B-05B3EEAFFFCB}" type="datetimeFigureOut">
              <a:rPr lang="en-SO" smtClean="0"/>
              <a:t>01/01/2026</a:t>
            </a:fld>
            <a:endParaRPr lang="en-S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86215E-60EA-F139-6BB6-34D615B23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86514-C360-4420-56A7-8DD0D7D6E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65224D-525F-974B-A467-E503430C5389}" type="slidenum">
              <a:rPr lang="en-SO" smtClean="0"/>
              <a:t>‹#›</a:t>
            </a:fld>
            <a:endParaRPr lang="en-SO"/>
          </a:p>
        </p:txBody>
      </p:sp>
    </p:spTree>
    <p:extLst>
      <p:ext uri="{BB962C8B-B14F-4D97-AF65-F5344CB8AC3E}">
        <p14:creationId xmlns:p14="http://schemas.microsoft.com/office/powerpoint/2010/main" val="1392592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CA043-0529-4F9E-0050-062930F1AB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#PTE2026 — type here …</a:t>
            </a:r>
            <a:endParaRPr lang="en-SO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EBB518-B144-3C22-6503-7632AA3E1A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34829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O"/>
          </a:p>
        </p:txBody>
      </p:sp>
    </p:spTree>
    <p:extLst>
      <p:ext uri="{BB962C8B-B14F-4D97-AF65-F5344CB8AC3E}">
        <p14:creationId xmlns:p14="http://schemas.microsoft.com/office/powerpoint/2010/main" val="2759849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1118C8-243E-12C9-5D6E-21ECD663F72B}"/>
              </a:ext>
            </a:extLst>
          </p:cNvPr>
          <p:cNvSpPr>
            <a:spLocks noGrp="1"/>
          </p:cNvSpPr>
          <p:nvPr>
            <p:ph type="title" orient="vert" hasCustomPrompt="1"/>
          </p:nvPr>
        </p:nvSpPr>
        <p:spPr>
          <a:xfrm>
            <a:off x="8724900" y="365125"/>
            <a:ext cx="2628900" cy="4702175"/>
          </a:xfrm>
          <a:prstGeom prst="rect">
            <a:avLst/>
          </a:prstGeom>
        </p:spPr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#PTE2026 — type here …</a:t>
            </a:r>
            <a:endParaRPr lang="en-SO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D99FCE-9038-E8B4-DD40-5BE189D497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47021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O"/>
          </a:p>
        </p:txBody>
      </p:sp>
    </p:spTree>
    <p:extLst>
      <p:ext uri="{BB962C8B-B14F-4D97-AF65-F5344CB8AC3E}">
        <p14:creationId xmlns:p14="http://schemas.microsoft.com/office/powerpoint/2010/main" val="780670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uturistic abstract technology background . vector tech circle and technology  background. 5593653 Vector Art at Vecteezy">
            <a:extLst>
              <a:ext uri="{FF2B5EF4-FFF2-40B4-BE49-F238E27FC236}">
                <a16:creationId xmlns:a16="http://schemas.microsoft.com/office/drawing/2014/main" id="{D6323479-BC18-0ED9-ABD1-437137C3128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6689" y="-567151"/>
            <a:ext cx="12378689" cy="7425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753778B-5690-CC62-25C2-D5E5945D316C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-989848" y="-3404777"/>
            <a:ext cx="14590928" cy="1683421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E40D94F-0E21-B572-FF1B-381D71F2E1D2}"/>
              </a:ext>
            </a:extLst>
          </p:cNvPr>
          <p:cNvSpPr/>
          <p:nvPr userDrawn="1"/>
        </p:nvSpPr>
        <p:spPr>
          <a:xfrm>
            <a:off x="-186690" y="-567151"/>
            <a:ext cx="12378689" cy="7425151"/>
          </a:xfrm>
          <a:prstGeom prst="rect">
            <a:avLst/>
          </a:prstGeom>
          <a:gradFill>
            <a:gsLst>
              <a:gs pos="2000">
                <a:schemeClr val="accent1">
                  <a:lumMod val="5000"/>
                  <a:lumOff val="95000"/>
                  <a:alpha val="52887"/>
                </a:schemeClr>
              </a:gs>
              <a:gs pos="72000">
                <a:schemeClr val="tx2">
                  <a:lumMod val="75000"/>
                  <a:lumOff val="25000"/>
                </a:schemeClr>
              </a:gs>
            </a:gsLst>
            <a:lin ang="5400000" scaled="1"/>
          </a:gra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O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B55E486-8C18-035E-C4FD-B9E2E3BDACC6}"/>
              </a:ext>
            </a:extLst>
          </p:cNvPr>
          <p:cNvSpPr txBox="1"/>
          <p:nvPr userDrawn="1"/>
        </p:nvSpPr>
        <p:spPr>
          <a:xfrm>
            <a:off x="2457216" y="5756830"/>
            <a:ext cx="399257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SO" b="1" dirty="0">
                <a:solidFill>
                  <a:schemeClr val="bg1"/>
                </a:solidFill>
                <a:latin typeface="Helvetica" pitchFamily="2" charset="0"/>
              </a:rPr>
              <a:t>Carwada Tiknoolojiyadda Puntland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543F614-E974-59D1-A4A1-BA443307430A}"/>
              </a:ext>
            </a:extLst>
          </p:cNvPr>
          <p:cNvSpPr txBox="1"/>
          <p:nvPr userDrawn="1"/>
        </p:nvSpPr>
        <p:spPr>
          <a:xfrm>
            <a:off x="2462488" y="6025634"/>
            <a:ext cx="2044149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600" b="0" dirty="0">
                <a:solidFill>
                  <a:schemeClr val="bg1"/>
                </a:solidFill>
                <a:latin typeface="Helvetica" pitchFamily="2" charset="0"/>
              </a:rPr>
              <a:t>J</a:t>
            </a:r>
            <a:r>
              <a:rPr lang="en-SO" sz="1600" b="0" dirty="0">
                <a:solidFill>
                  <a:schemeClr val="bg1"/>
                </a:solidFill>
                <a:latin typeface="Helvetica" pitchFamily="2" charset="0"/>
              </a:rPr>
              <a:t>anaayo 5/6/7, 2026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9BEB3D3-48DE-5D55-5191-67A7CCF11849}"/>
              </a:ext>
            </a:extLst>
          </p:cNvPr>
          <p:cNvSpPr txBox="1"/>
          <p:nvPr userDrawn="1"/>
        </p:nvSpPr>
        <p:spPr>
          <a:xfrm>
            <a:off x="2457216" y="6259803"/>
            <a:ext cx="1274708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#PTE2026</a:t>
            </a:r>
            <a:endParaRPr lang="en-SO" b="1" dirty="0">
              <a:solidFill>
                <a:schemeClr val="bg1"/>
              </a:solidFill>
              <a:latin typeface="Helvetica" pitchFamily="2" charset="0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8F13B81-5DAA-8EE1-405E-897E84885C7C}"/>
              </a:ext>
            </a:extLst>
          </p:cNvPr>
          <p:cNvCxnSpPr/>
          <p:nvPr userDrawn="1"/>
        </p:nvCxnSpPr>
        <p:spPr>
          <a:xfrm>
            <a:off x="-186690" y="5562599"/>
            <a:ext cx="12378690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CA5D75C2-EDA4-5FA2-E183-DE74D1388BE5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229890" y="5746296"/>
            <a:ext cx="1810747" cy="928008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3A897A5-15D3-BE25-8B62-79600332A6A7}"/>
              </a:ext>
            </a:extLst>
          </p:cNvPr>
          <p:cNvCxnSpPr/>
          <p:nvPr userDrawn="1"/>
        </p:nvCxnSpPr>
        <p:spPr>
          <a:xfrm>
            <a:off x="2351314" y="5746296"/>
            <a:ext cx="0" cy="900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3985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E8091ACC-636E-4EE1-B755-82D9E2C16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6570" y="419547"/>
            <a:ext cx="4005430" cy="4999511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A06D79E5-DC52-47E6-AFCE-2E013ADA2733}"/>
              </a:ext>
            </a:extLst>
          </p:cNvPr>
          <p:cNvSpPr/>
          <p:nvPr/>
        </p:nvSpPr>
        <p:spPr>
          <a:xfrm>
            <a:off x="2357549" y="1028900"/>
            <a:ext cx="5560079" cy="1731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800" b="1" dirty="0">
                <a:solidFill>
                  <a:srgbClr val="000000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Fire Safety Management System</a:t>
            </a: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77F1314D-E093-41B7-98B7-761BC0674157}"/>
              </a:ext>
            </a:extLst>
          </p:cNvPr>
          <p:cNvSpPr/>
          <p:nvPr/>
        </p:nvSpPr>
        <p:spPr>
          <a:xfrm>
            <a:off x="2794000" y="2760882"/>
            <a:ext cx="4520220" cy="2458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Ensuring robust fire safety is paramount for every organization. This presentation introduces a comprehensive web-based application designed to streamline and enhance fire safety protocols.</a:t>
            </a:r>
            <a:endParaRPr lang="en-US" sz="1750" dirty="0">
              <a:solidFill>
                <a:schemeClr val="bg1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8BC9937-B8F3-4941-BDA6-6A521B72C5F3}"/>
              </a:ext>
            </a:extLst>
          </p:cNvPr>
          <p:cNvSpPr/>
          <p:nvPr/>
        </p:nvSpPr>
        <p:spPr>
          <a:xfrm>
            <a:off x="-22199" y="3338402"/>
            <a:ext cx="1731982" cy="173198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CF12FAB-01D8-4CB3-9EB2-AE206A102621}"/>
              </a:ext>
            </a:extLst>
          </p:cNvPr>
          <p:cNvSpPr/>
          <p:nvPr/>
        </p:nvSpPr>
        <p:spPr>
          <a:xfrm>
            <a:off x="85510" y="1029346"/>
            <a:ext cx="1516565" cy="1516565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26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25C552B-A942-487B-B3F7-EBF97C0C169E}"/>
              </a:ext>
            </a:extLst>
          </p:cNvPr>
          <p:cNvSpPr txBox="1"/>
          <p:nvPr/>
        </p:nvSpPr>
        <p:spPr>
          <a:xfrm>
            <a:off x="688489" y="1936376"/>
            <a:ext cx="149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20928FB9-E486-4EDE-85D4-C5C574D3ECFE}"/>
              </a:ext>
            </a:extLst>
          </p:cNvPr>
          <p:cNvSpPr/>
          <p:nvPr/>
        </p:nvSpPr>
        <p:spPr>
          <a:xfrm>
            <a:off x="4731194" y="-306571"/>
            <a:ext cx="3433860" cy="408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25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INTRODUCTION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6FA25874-02BE-4EF6-BF77-188CD29317C8}"/>
              </a:ext>
            </a:extLst>
          </p:cNvPr>
          <p:cNvSpPr/>
          <p:nvPr/>
        </p:nvSpPr>
        <p:spPr>
          <a:xfrm>
            <a:off x="140995" y="204073"/>
            <a:ext cx="8840629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4650"/>
              </a:lnSpc>
              <a:buNone/>
            </a:pPr>
            <a:r>
              <a:rPr lang="en-US" sz="2400" b="1" dirty="0">
                <a:solidFill>
                  <a:schemeClr val="bg1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Revolutionizing Fire Safety Management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071979AB-7F91-48A1-AF89-18DF68A12ABA}"/>
              </a:ext>
            </a:extLst>
          </p:cNvPr>
          <p:cNvSpPr/>
          <p:nvPr/>
        </p:nvSpPr>
        <p:spPr>
          <a:xfrm>
            <a:off x="270087" y="1298377"/>
            <a:ext cx="760428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The Fire Safety Management System (FSMS) is an advanced, web-based platform engineered to provide a centralized and efficient approach to managing all aspects of fire safety within an organization.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F387423B-2409-4277-B601-CBB3A5A91C80}"/>
              </a:ext>
            </a:extLst>
          </p:cNvPr>
          <p:cNvSpPr/>
          <p:nvPr/>
        </p:nvSpPr>
        <p:spPr>
          <a:xfrm>
            <a:off x="270087" y="3204344"/>
            <a:ext cx="760428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From incident tracking to chemical management and comprehensive reporting, the FSMS is built to empower safety officers and decision-makers with the tools they need to maintain a secure environment.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Image 0" descr="preencoded.png">
            <a:extLst>
              <a:ext uri="{FF2B5EF4-FFF2-40B4-BE49-F238E27FC236}">
                <a16:creationId xmlns:a16="http://schemas.microsoft.com/office/drawing/2014/main" id="{8A929D41-EDA7-4FBF-8FEA-9FD733E328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3845" y="102037"/>
            <a:ext cx="3618155" cy="5494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1523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557FADBD-9976-4981-9177-899F47B12EF0}"/>
              </a:ext>
            </a:extLst>
          </p:cNvPr>
          <p:cNvSpPr/>
          <p:nvPr/>
        </p:nvSpPr>
        <p:spPr>
          <a:xfrm>
            <a:off x="3939064" y="-290274"/>
            <a:ext cx="199548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250"/>
              </a:lnSpc>
              <a:buNone/>
            </a:pPr>
            <a:r>
              <a:rPr lang="en-US" sz="2800" b="1" dirty="0"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PROBLEM STATEMENT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67175A22-0F6A-4FEE-84F8-BAD1629CFDAF}"/>
              </a:ext>
            </a:extLst>
          </p:cNvPr>
          <p:cNvSpPr/>
          <p:nvPr/>
        </p:nvSpPr>
        <p:spPr>
          <a:xfrm>
            <a:off x="2763396" y="77961"/>
            <a:ext cx="9796939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4650"/>
              </a:lnSpc>
              <a:buNone/>
            </a:pPr>
            <a:r>
              <a:rPr lang="en-US" sz="2400" b="1" dirty="0">
                <a:solidFill>
                  <a:schemeClr val="bg1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Addressing Current Challenges in Fire Safety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93B648FE-5B7C-4110-9095-5473F52A5733}"/>
              </a:ext>
            </a:extLst>
          </p:cNvPr>
          <p:cNvSpPr/>
          <p:nvPr/>
        </p:nvSpPr>
        <p:spPr>
          <a:xfrm>
            <a:off x="0" y="1169387"/>
            <a:ext cx="4196358" cy="2837259"/>
          </a:xfrm>
          <a:prstGeom prst="roundRect">
            <a:avLst>
              <a:gd name="adj" fmla="val 5157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FD6AE96A-7688-4A08-AAAB-B6DABC77AE3C}"/>
              </a:ext>
            </a:extLst>
          </p:cNvPr>
          <p:cNvSpPr/>
          <p:nvPr/>
        </p:nvSpPr>
        <p:spPr>
          <a:xfrm>
            <a:off x="-30480" y="1101402"/>
            <a:ext cx="121920" cy="2837259"/>
          </a:xfrm>
          <a:prstGeom prst="roundRect">
            <a:avLst>
              <a:gd name="adj" fmla="val 78139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3C92470F-AE65-4E14-B882-FF1C650ECFFA}"/>
              </a:ext>
            </a:extLst>
          </p:cNvPr>
          <p:cNvSpPr/>
          <p:nvPr/>
        </p:nvSpPr>
        <p:spPr>
          <a:xfrm>
            <a:off x="348734" y="135869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Fragmented Data</a:t>
            </a:r>
            <a:endParaRPr lang="en-US" sz="2300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79A74ADF-2B3F-45A2-8CBB-55F9AF1BFD3A}"/>
              </a:ext>
            </a:extLst>
          </p:cNvPr>
          <p:cNvSpPr/>
          <p:nvPr/>
        </p:nvSpPr>
        <p:spPr>
          <a:xfrm>
            <a:off x="348734" y="1939122"/>
            <a:ext cx="35903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systems often involve disparate data sources, leading to inconsistencies and difficulties in accessing critical safety information quickly.</a:t>
            </a:r>
            <a:endParaRPr lang="en-US" sz="1750" dirty="0"/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AA685BE3-AE63-483C-825C-F5A4D482C25D}"/>
              </a:ext>
            </a:extLst>
          </p:cNvPr>
          <p:cNvSpPr/>
          <p:nvPr/>
        </p:nvSpPr>
        <p:spPr>
          <a:xfrm>
            <a:off x="4325361" y="1183313"/>
            <a:ext cx="4196358" cy="2837259"/>
          </a:xfrm>
          <a:prstGeom prst="roundRect">
            <a:avLst>
              <a:gd name="adj" fmla="val 5157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D2AD3B2F-42DD-4A23-816B-182D73550DB4}"/>
              </a:ext>
            </a:extLst>
          </p:cNvPr>
          <p:cNvSpPr/>
          <p:nvPr/>
        </p:nvSpPr>
        <p:spPr>
          <a:xfrm>
            <a:off x="4392692" y="1173670"/>
            <a:ext cx="121920" cy="2837259"/>
          </a:xfrm>
          <a:prstGeom prst="roundRect">
            <a:avLst>
              <a:gd name="adj" fmla="val 78139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694EA227-9341-4995-BFD6-BED1277BD44C}"/>
              </a:ext>
            </a:extLst>
          </p:cNvPr>
          <p:cNvSpPr/>
          <p:nvPr/>
        </p:nvSpPr>
        <p:spPr>
          <a:xfrm>
            <a:off x="4771906" y="143096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Manual Processes</a:t>
            </a:r>
            <a:endParaRPr lang="en-US" sz="2300" dirty="0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D8BE4DCF-D4EF-4853-AA1E-85CE05BCB699}"/>
              </a:ext>
            </a:extLst>
          </p:cNvPr>
          <p:cNvSpPr/>
          <p:nvPr/>
        </p:nvSpPr>
        <p:spPr>
          <a:xfrm>
            <a:off x="4771906" y="1876138"/>
            <a:ext cx="35903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Reliance on manual logging and tracking for incidents and hazardous materials is prone to human error and inefficiency.</a:t>
            </a:r>
            <a:endParaRPr lang="en-US" sz="1750" dirty="0"/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D9EA03CE-14A8-4EA6-AB74-2BF3962BABEC}"/>
              </a:ext>
            </a:extLst>
          </p:cNvPr>
          <p:cNvSpPr/>
          <p:nvPr/>
        </p:nvSpPr>
        <p:spPr>
          <a:xfrm>
            <a:off x="8619530" y="1204892"/>
            <a:ext cx="3480318" cy="2837259"/>
          </a:xfrm>
          <a:prstGeom prst="roundRect">
            <a:avLst>
              <a:gd name="adj" fmla="val 5157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6E8665E7-A63D-4415-864A-56B24010475E}"/>
              </a:ext>
            </a:extLst>
          </p:cNvPr>
          <p:cNvSpPr/>
          <p:nvPr/>
        </p:nvSpPr>
        <p:spPr>
          <a:xfrm>
            <a:off x="8650367" y="1204892"/>
            <a:ext cx="121920" cy="2837259"/>
          </a:xfrm>
          <a:prstGeom prst="roundRect">
            <a:avLst>
              <a:gd name="adj" fmla="val 78139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339196CD-01B0-4FBE-87CF-B6B5911FFF3A}"/>
              </a:ext>
            </a:extLst>
          </p:cNvPr>
          <p:cNvSpPr/>
          <p:nvPr/>
        </p:nvSpPr>
        <p:spPr>
          <a:xfrm>
            <a:off x="8870098" y="1327630"/>
            <a:ext cx="2513374" cy="362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9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Lack of Real-time Insights</a:t>
            </a:r>
            <a:endParaRPr lang="en-US" sz="2000" dirty="0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6407D719-32EE-4DB1-BA42-8D835AA848BC}"/>
              </a:ext>
            </a:extLst>
          </p:cNvPr>
          <p:cNvSpPr/>
          <p:nvPr/>
        </p:nvSpPr>
        <p:spPr>
          <a:xfrm>
            <a:off x="9029581" y="1813154"/>
            <a:ext cx="2922165" cy="194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Without real-time data, organizations struggle to identify emerging risks, respond effectively to incidents, and make informed safety decisions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1291278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A98F46D-B283-4C1F-8B06-249EB3C53E6A}"/>
              </a:ext>
            </a:extLst>
          </p:cNvPr>
          <p:cNvSpPr/>
          <p:nvPr/>
        </p:nvSpPr>
        <p:spPr>
          <a:xfrm>
            <a:off x="4300446" y="-432997"/>
            <a:ext cx="1874444" cy="435573"/>
          </a:xfrm>
          <a:prstGeom prst="roundRect">
            <a:avLst>
              <a:gd name="adj" fmla="val 17880"/>
            </a:avLst>
          </a:prstGeom>
          <a:solidFill>
            <a:srgbClr val="CCEEFF"/>
          </a:solidFill>
          <a:ln/>
        </p:spPr>
        <p:txBody>
          <a:bodyPr/>
          <a:lstStyle/>
          <a:p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OBJECTIVES</a:t>
            </a:r>
            <a:endParaRPr lang="en-US" dirty="0"/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659959C1-1830-407D-B87E-FD3232486EED}"/>
              </a:ext>
            </a:extLst>
          </p:cNvPr>
          <p:cNvSpPr/>
          <p:nvPr/>
        </p:nvSpPr>
        <p:spPr>
          <a:xfrm>
            <a:off x="3424033" y="-17973"/>
            <a:ext cx="4278167" cy="382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8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Our Goals for Enhanced Safety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659B8D4C-B707-4FDB-AB66-308B1033E143}"/>
              </a:ext>
            </a:extLst>
          </p:cNvPr>
          <p:cNvSpPr/>
          <p:nvPr/>
        </p:nvSpPr>
        <p:spPr>
          <a:xfrm>
            <a:off x="21669" y="398397"/>
            <a:ext cx="583514" cy="1085191"/>
          </a:xfrm>
          <a:prstGeom prst="roundRect">
            <a:avLst>
              <a:gd name="adj" fmla="val 360048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B7761240-E21C-4B62-A3CC-F349F654B4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4011" y="848258"/>
            <a:ext cx="291086" cy="291086"/>
          </a:xfrm>
          <a:prstGeom prst="rect">
            <a:avLst/>
          </a:prstGeom>
        </p:spPr>
      </p:pic>
      <p:sp>
        <p:nvSpPr>
          <p:cNvPr id="6" name="Text 4">
            <a:extLst>
              <a:ext uri="{FF2B5EF4-FFF2-40B4-BE49-F238E27FC236}">
                <a16:creationId xmlns:a16="http://schemas.microsoft.com/office/drawing/2014/main" id="{4C567B6A-2B8A-4971-8E2E-57DB686F106E}"/>
              </a:ext>
            </a:extLst>
          </p:cNvPr>
          <p:cNvSpPr/>
          <p:nvPr/>
        </p:nvSpPr>
        <p:spPr>
          <a:xfrm>
            <a:off x="714534" y="562183"/>
            <a:ext cx="2418159" cy="302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35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Centralize Data</a:t>
            </a:r>
            <a:endParaRPr lang="en-US" sz="2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EA3CD9E-60A8-4B0D-B41E-0725B0DC0727}"/>
              </a:ext>
            </a:extLst>
          </p:cNvPr>
          <p:cNvSpPr/>
          <p:nvPr/>
        </p:nvSpPr>
        <p:spPr>
          <a:xfrm>
            <a:off x="714534" y="889924"/>
            <a:ext cx="6882159" cy="589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300"/>
              </a:lnSpc>
              <a:buNone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Provide a single, unified platform for all fire safety-related information, ensuring accuracy and accessibility.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10D8D91-6D25-4060-B0D0-B009F413B7AD}"/>
              </a:ext>
            </a:extLst>
          </p:cNvPr>
          <p:cNvSpPr/>
          <p:nvPr/>
        </p:nvSpPr>
        <p:spPr>
          <a:xfrm>
            <a:off x="21669" y="1589205"/>
            <a:ext cx="583514" cy="1085191"/>
          </a:xfrm>
          <a:prstGeom prst="roundRect">
            <a:avLst>
              <a:gd name="adj" fmla="val 360048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8AA961C2-8FCE-4CF0-AD81-6AACEA9563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378" y="1933449"/>
            <a:ext cx="386719" cy="386719"/>
          </a:xfrm>
          <a:prstGeom prst="rect">
            <a:avLst/>
          </a:prstGeom>
        </p:spPr>
      </p:pic>
      <p:sp>
        <p:nvSpPr>
          <p:cNvPr id="10" name="Text 7">
            <a:extLst>
              <a:ext uri="{FF2B5EF4-FFF2-40B4-BE49-F238E27FC236}">
                <a16:creationId xmlns:a16="http://schemas.microsoft.com/office/drawing/2014/main" id="{F984EB24-B6D4-483A-9EA3-A64A4B4C6E14}"/>
              </a:ext>
            </a:extLst>
          </p:cNvPr>
          <p:cNvSpPr/>
          <p:nvPr/>
        </p:nvSpPr>
        <p:spPr>
          <a:xfrm>
            <a:off x="743972" y="1668197"/>
            <a:ext cx="2418159" cy="302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35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Improve Efficiency</a:t>
            </a:r>
            <a:endParaRPr lang="en-US" sz="2400" b="1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C980AAA1-6E24-462C-9BAB-D61137D82386}"/>
              </a:ext>
            </a:extLst>
          </p:cNvPr>
          <p:cNvSpPr/>
          <p:nvPr/>
        </p:nvSpPr>
        <p:spPr>
          <a:xfrm>
            <a:off x="767953" y="1994906"/>
            <a:ext cx="6933248" cy="589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300"/>
              </a:lnSpc>
              <a:buNone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Automate key safety management processes, reducing manual effort and potential for error.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EAFEF7BE-1E0C-4B1B-83BE-01A676DD6C78}"/>
              </a:ext>
            </a:extLst>
          </p:cNvPr>
          <p:cNvSpPr/>
          <p:nvPr/>
        </p:nvSpPr>
        <p:spPr>
          <a:xfrm>
            <a:off x="-67365" y="2780013"/>
            <a:ext cx="672548" cy="1085191"/>
          </a:xfrm>
          <a:prstGeom prst="roundRect">
            <a:avLst>
              <a:gd name="adj" fmla="val 360048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3" descr="preencoded.png">
            <a:extLst>
              <a:ext uri="{FF2B5EF4-FFF2-40B4-BE49-F238E27FC236}">
                <a16:creationId xmlns:a16="http://schemas.microsoft.com/office/drawing/2014/main" id="{8AEEEE01-5374-484C-AC1D-D580F0F3B8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986" y="3062857"/>
            <a:ext cx="519501" cy="519501"/>
          </a:xfrm>
          <a:prstGeom prst="rect">
            <a:avLst/>
          </a:prstGeom>
        </p:spPr>
      </p:pic>
      <p:sp>
        <p:nvSpPr>
          <p:cNvPr id="14" name="Text 10">
            <a:extLst>
              <a:ext uri="{FF2B5EF4-FFF2-40B4-BE49-F238E27FC236}">
                <a16:creationId xmlns:a16="http://schemas.microsoft.com/office/drawing/2014/main" id="{BFCE2477-EFF9-42F1-9A96-1CB2B4F9D38E}"/>
              </a:ext>
            </a:extLst>
          </p:cNvPr>
          <p:cNvSpPr/>
          <p:nvPr/>
        </p:nvSpPr>
        <p:spPr>
          <a:xfrm>
            <a:off x="670838" y="2937566"/>
            <a:ext cx="2926318" cy="302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35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Enhance Decision-Making</a:t>
            </a:r>
            <a:endParaRPr lang="en-US" sz="240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3DB430B3-7133-4444-9334-14625994E1A7}"/>
              </a:ext>
            </a:extLst>
          </p:cNvPr>
          <p:cNvSpPr/>
          <p:nvPr/>
        </p:nvSpPr>
        <p:spPr>
          <a:xfrm>
            <a:off x="714534" y="3372893"/>
            <a:ext cx="6933248" cy="589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300"/>
              </a:lnSpc>
              <a:buNone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Deliver real-time analytics and comprehensive reports to support proactive safety strategies.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6D5D0CFC-BA85-4B14-8ACB-C22A3F22AA36}"/>
              </a:ext>
            </a:extLst>
          </p:cNvPr>
          <p:cNvSpPr/>
          <p:nvPr/>
        </p:nvSpPr>
        <p:spPr>
          <a:xfrm>
            <a:off x="-67365" y="3970821"/>
            <a:ext cx="672548" cy="1085191"/>
          </a:xfrm>
          <a:prstGeom prst="roundRect">
            <a:avLst>
              <a:gd name="adj" fmla="val 360048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4" descr="preencoded.png">
            <a:extLst>
              <a:ext uri="{FF2B5EF4-FFF2-40B4-BE49-F238E27FC236}">
                <a16:creationId xmlns:a16="http://schemas.microsoft.com/office/drawing/2014/main" id="{DF4E4B51-E853-4EBA-9168-C816BB45F6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117" y="4351086"/>
            <a:ext cx="345584" cy="345584"/>
          </a:xfrm>
          <a:prstGeom prst="rect">
            <a:avLst/>
          </a:prstGeom>
        </p:spPr>
      </p:pic>
      <p:sp>
        <p:nvSpPr>
          <p:cNvPr id="18" name="Text 13">
            <a:extLst>
              <a:ext uri="{FF2B5EF4-FFF2-40B4-BE49-F238E27FC236}">
                <a16:creationId xmlns:a16="http://schemas.microsoft.com/office/drawing/2014/main" id="{03F3D839-04EF-4E99-AC46-A3FF8A61C967}"/>
              </a:ext>
            </a:extLst>
          </p:cNvPr>
          <p:cNvSpPr/>
          <p:nvPr/>
        </p:nvSpPr>
        <p:spPr>
          <a:xfrm>
            <a:off x="767953" y="4121660"/>
            <a:ext cx="3233892" cy="402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35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Ensure Compliance</a:t>
            </a:r>
            <a:endParaRPr lang="en-US" sz="2400" dirty="0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FF319C74-01AC-4FC6-ABEF-893D259CBB4E}"/>
              </a:ext>
            </a:extLst>
          </p:cNvPr>
          <p:cNvSpPr/>
          <p:nvPr/>
        </p:nvSpPr>
        <p:spPr>
          <a:xfrm>
            <a:off x="729857" y="4523878"/>
            <a:ext cx="6933248" cy="589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300"/>
              </a:lnSpc>
              <a:buNone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Facilitate adherence to fire safety regulations and standards with robust tracking and reporting features.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6885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DC5FC0B-A282-4434-B175-B26E5B30FC35}"/>
              </a:ext>
            </a:extLst>
          </p:cNvPr>
          <p:cNvSpPr/>
          <p:nvPr/>
        </p:nvSpPr>
        <p:spPr>
          <a:xfrm>
            <a:off x="4741222" y="-4035"/>
            <a:ext cx="3157771" cy="502385"/>
          </a:xfrm>
          <a:prstGeom prst="roundRect">
            <a:avLst>
              <a:gd name="adj" fmla="val 17876"/>
            </a:avLst>
          </a:prstGeom>
          <a:solidFill>
            <a:srgbClr val="CCEEFF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112C7FA-7D0E-471D-94E9-DBA1AEE55865}"/>
              </a:ext>
            </a:extLst>
          </p:cNvPr>
          <p:cNvSpPr/>
          <p:nvPr/>
        </p:nvSpPr>
        <p:spPr>
          <a:xfrm>
            <a:off x="5055346" y="90828"/>
            <a:ext cx="1097323" cy="269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FEATURES</a:t>
            </a:r>
            <a:endParaRPr lang="en-US" sz="2000" b="1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AEC2272-71B0-4241-BE53-755DCAF1512B}"/>
              </a:ext>
            </a:extLst>
          </p:cNvPr>
          <p:cNvSpPr/>
          <p:nvPr/>
        </p:nvSpPr>
        <p:spPr>
          <a:xfrm>
            <a:off x="77492" y="216316"/>
            <a:ext cx="6516946" cy="502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Functionalities at a Glance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E4B6F7A-658A-4526-A7FA-6572BA873D0D}"/>
              </a:ext>
            </a:extLst>
          </p:cNvPr>
          <p:cNvSpPr/>
          <p:nvPr/>
        </p:nvSpPr>
        <p:spPr>
          <a:xfrm>
            <a:off x="-155892" y="1008539"/>
            <a:ext cx="3886600" cy="2290626"/>
          </a:xfrm>
          <a:prstGeom prst="roundRect">
            <a:avLst>
              <a:gd name="adj" fmla="val 3203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9026039-4212-4715-A797-B1E334BBFA1A}"/>
              </a:ext>
            </a:extLst>
          </p:cNvPr>
          <p:cNvSpPr/>
          <p:nvPr/>
        </p:nvSpPr>
        <p:spPr>
          <a:xfrm>
            <a:off x="-107190" y="1442358"/>
            <a:ext cx="435203" cy="630765"/>
          </a:xfrm>
          <a:prstGeom prst="roundRect">
            <a:avLst>
              <a:gd name="adj" fmla="val 14873578"/>
            </a:avLst>
          </a:prstGeom>
          <a:solidFill>
            <a:srgbClr val="007EBD"/>
          </a:solidFill>
          <a:ln/>
        </p:spPr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108B4C30-A9D3-47D4-AF11-DCF5E89EB4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1490" y="1623762"/>
            <a:ext cx="283801" cy="283801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18BF11AB-D55C-4995-8AE1-B965E1524C21}"/>
              </a:ext>
            </a:extLst>
          </p:cNvPr>
          <p:cNvSpPr/>
          <p:nvPr/>
        </p:nvSpPr>
        <p:spPr>
          <a:xfrm>
            <a:off x="372506" y="1652439"/>
            <a:ext cx="1944127" cy="344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Interactive Dashboard</a:t>
            </a:r>
            <a:endParaRPr lang="en-US" sz="21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3C342956-1CEA-4F62-8D52-A7230E991792}"/>
              </a:ext>
            </a:extLst>
          </p:cNvPr>
          <p:cNvSpPr/>
          <p:nvPr/>
        </p:nvSpPr>
        <p:spPr>
          <a:xfrm>
            <a:off x="77492" y="2267168"/>
            <a:ext cx="3210759" cy="995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overview of incidents, safety metrics, and compliance status.</a:t>
            </a:r>
            <a:endParaRPr lang="en-US" sz="16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A9FC80FA-4181-40C8-A8B8-386ED978606D}"/>
              </a:ext>
            </a:extLst>
          </p:cNvPr>
          <p:cNvSpPr/>
          <p:nvPr/>
        </p:nvSpPr>
        <p:spPr>
          <a:xfrm>
            <a:off x="4311096" y="1019584"/>
            <a:ext cx="3778618" cy="2286742"/>
          </a:xfrm>
          <a:prstGeom prst="roundRect">
            <a:avLst>
              <a:gd name="adj" fmla="val 3203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E0AC98D2-31C4-4F56-87E8-8FD82255CCFB}"/>
              </a:ext>
            </a:extLst>
          </p:cNvPr>
          <p:cNvSpPr/>
          <p:nvPr/>
        </p:nvSpPr>
        <p:spPr>
          <a:xfrm>
            <a:off x="4433005" y="1436362"/>
            <a:ext cx="435203" cy="630765"/>
          </a:xfrm>
          <a:prstGeom prst="roundRect">
            <a:avLst>
              <a:gd name="adj" fmla="val 14873578"/>
            </a:avLst>
          </a:prstGeom>
          <a:solidFill>
            <a:srgbClr val="007EBD"/>
          </a:solidFill>
          <a:ln/>
        </p:spPr>
      </p:sp>
      <p:pic>
        <p:nvPicPr>
          <p:cNvPr id="12" name="Image 1" descr="preencoded.png">
            <a:extLst>
              <a:ext uri="{FF2B5EF4-FFF2-40B4-BE49-F238E27FC236}">
                <a16:creationId xmlns:a16="http://schemas.microsoft.com/office/drawing/2014/main" id="{E0DD811C-41D2-49ED-8EAE-997F15F546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05097" y="1625910"/>
            <a:ext cx="283801" cy="283801"/>
          </a:xfrm>
          <a:prstGeom prst="rect">
            <a:avLst/>
          </a:prstGeom>
        </p:spPr>
      </p:pic>
      <p:sp>
        <p:nvSpPr>
          <p:cNvPr id="13" name="Text 9">
            <a:extLst>
              <a:ext uri="{FF2B5EF4-FFF2-40B4-BE49-F238E27FC236}">
                <a16:creationId xmlns:a16="http://schemas.microsoft.com/office/drawing/2014/main" id="{21E5452E-3E75-4704-9A67-7466C2F0AD37}"/>
              </a:ext>
            </a:extLst>
          </p:cNvPr>
          <p:cNvSpPr/>
          <p:nvPr/>
        </p:nvSpPr>
        <p:spPr>
          <a:xfrm>
            <a:off x="5048881" y="1557957"/>
            <a:ext cx="1925835" cy="344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Incident Management</a:t>
            </a:r>
            <a:endParaRPr lang="en-US" sz="210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0CDD8CDB-5A79-4B33-A92C-3A7EADB13EAB}"/>
              </a:ext>
            </a:extLst>
          </p:cNvPr>
          <p:cNvSpPr/>
          <p:nvPr/>
        </p:nvSpPr>
        <p:spPr>
          <a:xfrm>
            <a:off x="4610751" y="2150592"/>
            <a:ext cx="3478963" cy="1009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Log, track, and analyze fire incidents, their causes, and resolutions for continuous improvement.</a:t>
            </a:r>
            <a:endParaRPr lang="en-US" sz="1600" dirty="0"/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B4F99B3F-2FF8-4E45-B61B-CA377D4D651E}"/>
              </a:ext>
            </a:extLst>
          </p:cNvPr>
          <p:cNvSpPr/>
          <p:nvPr/>
        </p:nvSpPr>
        <p:spPr>
          <a:xfrm>
            <a:off x="8492391" y="1008539"/>
            <a:ext cx="3478963" cy="2286742"/>
          </a:xfrm>
          <a:prstGeom prst="roundRect">
            <a:avLst>
              <a:gd name="adj" fmla="val 3203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3701E1A3-B149-4FF7-9DE9-8BEE81949367}"/>
              </a:ext>
            </a:extLst>
          </p:cNvPr>
          <p:cNvSpPr/>
          <p:nvPr/>
        </p:nvSpPr>
        <p:spPr>
          <a:xfrm>
            <a:off x="8516874" y="1265772"/>
            <a:ext cx="435203" cy="630765"/>
          </a:xfrm>
          <a:prstGeom prst="roundRect">
            <a:avLst>
              <a:gd name="adj" fmla="val 14873578"/>
            </a:avLst>
          </a:prstGeom>
          <a:solidFill>
            <a:srgbClr val="007EBD"/>
          </a:solidFill>
          <a:ln/>
        </p:spPr>
      </p:sp>
      <p:pic>
        <p:nvPicPr>
          <p:cNvPr id="17" name="Image 2" descr="preencoded.png">
            <a:extLst>
              <a:ext uri="{FF2B5EF4-FFF2-40B4-BE49-F238E27FC236}">
                <a16:creationId xmlns:a16="http://schemas.microsoft.com/office/drawing/2014/main" id="{078B6A80-5107-41CA-83C4-A26A3217A5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40501" y="1446599"/>
            <a:ext cx="283801" cy="283801"/>
          </a:xfrm>
          <a:prstGeom prst="rect">
            <a:avLst/>
          </a:prstGeom>
        </p:spPr>
      </p:pic>
      <p:sp>
        <p:nvSpPr>
          <p:cNvPr id="18" name="Text 13">
            <a:extLst>
              <a:ext uri="{FF2B5EF4-FFF2-40B4-BE49-F238E27FC236}">
                <a16:creationId xmlns:a16="http://schemas.microsoft.com/office/drawing/2014/main" id="{604D5356-3F2A-47BE-8847-8A39EE2FB0F4}"/>
              </a:ext>
            </a:extLst>
          </p:cNvPr>
          <p:cNvSpPr/>
          <p:nvPr/>
        </p:nvSpPr>
        <p:spPr>
          <a:xfrm>
            <a:off x="8976560" y="1395245"/>
            <a:ext cx="2012068" cy="344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Chemical Management</a:t>
            </a:r>
            <a:endParaRPr lang="en-US" sz="2100" dirty="0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7E194A96-47AC-4435-9A2A-896D13DF4FF7}"/>
              </a:ext>
            </a:extLst>
          </p:cNvPr>
          <p:cNvSpPr/>
          <p:nvPr/>
        </p:nvSpPr>
        <p:spPr>
          <a:xfrm>
            <a:off x="8782402" y="1971605"/>
            <a:ext cx="3037092" cy="1009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 hazardous chemicals, their storage locations, and expiration dates to prevent risks.</a:t>
            </a:r>
            <a:endParaRPr lang="en-US" sz="1600" dirty="0"/>
          </a:p>
        </p:txBody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3EF2DD76-DB72-46F7-A4B9-6B118DC6B7E0}"/>
              </a:ext>
            </a:extLst>
          </p:cNvPr>
          <p:cNvSpPr/>
          <p:nvPr/>
        </p:nvSpPr>
        <p:spPr>
          <a:xfrm>
            <a:off x="-155892" y="3429000"/>
            <a:ext cx="3855502" cy="2091862"/>
          </a:xfrm>
          <a:prstGeom prst="roundRect">
            <a:avLst>
              <a:gd name="adj" fmla="val 3203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478EB854-5F8A-4BCB-8FBE-63C11903FDF1}"/>
              </a:ext>
            </a:extLst>
          </p:cNvPr>
          <p:cNvSpPr/>
          <p:nvPr/>
        </p:nvSpPr>
        <p:spPr>
          <a:xfrm>
            <a:off x="-117673" y="3533638"/>
            <a:ext cx="360988" cy="523201"/>
          </a:xfrm>
          <a:prstGeom prst="roundRect">
            <a:avLst>
              <a:gd name="adj" fmla="val 14873578"/>
            </a:avLst>
          </a:prstGeom>
          <a:solidFill>
            <a:srgbClr val="007EBD"/>
          </a:solidFill>
          <a:ln/>
        </p:spPr>
      </p:sp>
      <p:pic>
        <p:nvPicPr>
          <p:cNvPr id="22" name="Image 3" descr="preencoded.png">
            <a:extLst>
              <a:ext uri="{FF2B5EF4-FFF2-40B4-BE49-F238E27FC236}">
                <a16:creationId xmlns:a16="http://schemas.microsoft.com/office/drawing/2014/main" id="{721ACCE0-0FDD-45A9-B6E5-D342AA26D0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40487" y="3675916"/>
            <a:ext cx="235405" cy="235405"/>
          </a:xfrm>
          <a:prstGeom prst="rect">
            <a:avLst/>
          </a:prstGeom>
        </p:spPr>
      </p:pic>
      <p:sp>
        <p:nvSpPr>
          <p:cNvPr id="23" name="Text 17">
            <a:extLst>
              <a:ext uri="{FF2B5EF4-FFF2-40B4-BE49-F238E27FC236}">
                <a16:creationId xmlns:a16="http://schemas.microsoft.com/office/drawing/2014/main" id="{A4D4E3E3-C190-4E01-90C1-4C99234749D7}"/>
              </a:ext>
            </a:extLst>
          </p:cNvPr>
          <p:cNvSpPr/>
          <p:nvPr/>
        </p:nvSpPr>
        <p:spPr>
          <a:xfrm>
            <a:off x="440640" y="3626412"/>
            <a:ext cx="3017425" cy="335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Location Management</a:t>
            </a:r>
            <a:endParaRPr lang="en-US" sz="2100" dirty="0"/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1FABFF09-D451-4A0A-97E3-A7CED075B105}"/>
              </a:ext>
            </a:extLst>
          </p:cNvPr>
          <p:cNvSpPr/>
          <p:nvPr/>
        </p:nvSpPr>
        <p:spPr>
          <a:xfrm>
            <a:off x="145627" y="4382023"/>
            <a:ext cx="3855502" cy="1009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Effectively manage and map all organizational locations, enhancing emergency response planning.</a:t>
            </a:r>
            <a:endParaRPr lang="en-US" sz="1600" dirty="0"/>
          </a:p>
        </p:txBody>
      </p:sp>
      <p:sp>
        <p:nvSpPr>
          <p:cNvPr id="25" name="Shape 19">
            <a:extLst>
              <a:ext uri="{FF2B5EF4-FFF2-40B4-BE49-F238E27FC236}">
                <a16:creationId xmlns:a16="http://schemas.microsoft.com/office/drawing/2014/main" id="{37422361-672A-48A1-8411-8F6371D8994E}"/>
              </a:ext>
            </a:extLst>
          </p:cNvPr>
          <p:cNvSpPr/>
          <p:nvPr/>
        </p:nvSpPr>
        <p:spPr>
          <a:xfrm>
            <a:off x="4311095" y="3429000"/>
            <a:ext cx="3778619" cy="2091862"/>
          </a:xfrm>
          <a:prstGeom prst="roundRect">
            <a:avLst>
              <a:gd name="adj" fmla="val 3203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26" name="Shape 20">
            <a:extLst>
              <a:ext uri="{FF2B5EF4-FFF2-40B4-BE49-F238E27FC236}">
                <a16:creationId xmlns:a16="http://schemas.microsoft.com/office/drawing/2014/main" id="{94DEC7BF-50E5-4552-883D-A65258A815C1}"/>
              </a:ext>
            </a:extLst>
          </p:cNvPr>
          <p:cNvSpPr/>
          <p:nvPr/>
        </p:nvSpPr>
        <p:spPr>
          <a:xfrm>
            <a:off x="4401151" y="3655991"/>
            <a:ext cx="435203" cy="630765"/>
          </a:xfrm>
          <a:prstGeom prst="roundRect">
            <a:avLst>
              <a:gd name="adj" fmla="val 14873578"/>
            </a:avLst>
          </a:prstGeom>
          <a:solidFill>
            <a:srgbClr val="007EBD"/>
          </a:solidFill>
          <a:ln/>
        </p:spPr>
      </p:sp>
      <p:pic>
        <p:nvPicPr>
          <p:cNvPr id="27" name="Image 4" descr="preencoded.png">
            <a:extLst>
              <a:ext uri="{FF2B5EF4-FFF2-40B4-BE49-F238E27FC236}">
                <a16:creationId xmlns:a16="http://schemas.microsoft.com/office/drawing/2014/main" id="{3AAAA88E-64D2-419C-AC82-D91672E607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57421" y="3801983"/>
            <a:ext cx="283801" cy="283801"/>
          </a:xfrm>
          <a:prstGeom prst="rect">
            <a:avLst/>
          </a:prstGeom>
        </p:spPr>
      </p:pic>
      <p:sp>
        <p:nvSpPr>
          <p:cNvPr id="28" name="Text 21">
            <a:extLst>
              <a:ext uri="{FF2B5EF4-FFF2-40B4-BE49-F238E27FC236}">
                <a16:creationId xmlns:a16="http://schemas.microsoft.com/office/drawing/2014/main" id="{699B663B-86C1-4961-9A00-F3A36E3A8CF8}"/>
              </a:ext>
            </a:extLst>
          </p:cNvPr>
          <p:cNvSpPr/>
          <p:nvPr/>
        </p:nvSpPr>
        <p:spPr>
          <a:xfrm>
            <a:off x="5048881" y="3849355"/>
            <a:ext cx="1904089" cy="344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Organization &amp; Staff</a:t>
            </a:r>
            <a:endParaRPr lang="en-US" sz="2100" dirty="0"/>
          </a:p>
        </p:txBody>
      </p:sp>
      <p:sp>
        <p:nvSpPr>
          <p:cNvPr id="29" name="Text 22">
            <a:extLst>
              <a:ext uri="{FF2B5EF4-FFF2-40B4-BE49-F238E27FC236}">
                <a16:creationId xmlns:a16="http://schemas.microsoft.com/office/drawing/2014/main" id="{9FFABDC5-2EFC-436C-8132-111F2D6BC2E1}"/>
              </a:ext>
            </a:extLst>
          </p:cNvPr>
          <p:cNvSpPr/>
          <p:nvPr/>
        </p:nvSpPr>
        <p:spPr>
          <a:xfrm>
            <a:off x="4565548" y="4453685"/>
            <a:ext cx="3437037" cy="1094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Maintain organizational structure and staff details, including safety roles and training records.</a:t>
            </a:r>
            <a:endParaRPr lang="en-US" sz="1600" dirty="0"/>
          </a:p>
        </p:txBody>
      </p:sp>
      <p:sp>
        <p:nvSpPr>
          <p:cNvPr id="30" name="Shape 23">
            <a:extLst>
              <a:ext uri="{FF2B5EF4-FFF2-40B4-BE49-F238E27FC236}">
                <a16:creationId xmlns:a16="http://schemas.microsoft.com/office/drawing/2014/main" id="{1DF5179B-F4ED-4624-ABA5-DB0B603BE545}"/>
              </a:ext>
            </a:extLst>
          </p:cNvPr>
          <p:cNvSpPr/>
          <p:nvPr/>
        </p:nvSpPr>
        <p:spPr>
          <a:xfrm>
            <a:off x="8492392" y="3413341"/>
            <a:ext cx="3480770" cy="2095745"/>
          </a:xfrm>
          <a:prstGeom prst="roundRect">
            <a:avLst>
              <a:gd name="adj" fmla="val 3203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31" name="Shape 24">
            <a:extLst>
              <a:ext uri="{FF2B5EF4-FFF2-40B4-BE49-F238E27FC236}">
                <a16:creationId xmlns:a16="http://schemas.microsoft.com/office/drawing/2014/main" id="{2F7B0E34-033F-4BFF-99B3-A2CA599ED2C0}"/>
              </a:ext>
            </a:extLst>
          </p:cNvPr>
          <p:cNvSpPr/>
          <p:nvPr/>
        </p:nvSpPr>
        <p:spPr>
          <a:xfrm>
            <a:off x="8866374" y="3413342"/>
            <a:ext cx="435203" cy="630765"/>
          </a:xfrm>
          <a:prstGeom prst="roundRect">
            <a:avLst>
              <a:gd name="adj" fmla="val 14873578"/>
            </a:avLst>
          </a:prstGeom>
          <a:solidFill>
            <a:srgbClr val="007EBD"/>
          </a:solidFill>
          <a:ln/>
        </p:spPr>
      </p:sp>
      <p:pic>
        <p:nvPicPr>
          <p:cNvPr id="32" name="Image 5" descr="preencoded.png">
            <a:extLst>
              <a:ext uri="{FF2B5EF4-FFF2-40B4-BE49-F238E27FC236}">
                <a16:creationId xmlns:a16="http://schemas.microsoft.com/office/drawing/2014/main" id="{7C621F6C-7D93-4E1A-8D1A-C07ACF49F5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55573" y="3630375"/>
            <a:ext cx="283801" cy="283801"/>
          </a:xfrm>
          <a:prstGeom prst="rect">
            <a:avLst/>
          </a:prstGeom>
        </p:spPr>
      </p:pic>
      <p:sp>
        <p:nvSpPr>
          <p:cNvPr id="33" name="Text 25">
            <a:extLst>
              <a:ext uri="{FF2B5EF4-FFF2-40B4-BE49-F238E27FC236}">
                <a16:creationId xmlns:a16="http://schemas.microsoft.com/office/drawing/2014/main" id="{18009163-15C0-43C7-A195-5621BB13CD3D}"/>
              </a:ext>
            </a:extLst>
          </p:cNvPr>
          <p:cNvSpPr/>
          <p:nvPr/>
        </p:nvSpPr>
        <p:spPr>
          <a:xfrm>
            <a:off x="9520316" y="3583770"/>
            <a:ext cx="1904089" cy="344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Advanced Reports</a:t>
            </a:r>
            <a:endParaRPr lang="en-US" sz="2100" dirty="0"/>
          </a:p>
        </p:txBody>
      </p:sp>
      <p:sp>
        <p:nvSpPr>
          <p:cNvPr id="34" name="Text 26">
            <a:extLst>
              <a:ext uri="{FF2B5EF4-FFF2-40B4-BE49-F238E27FC236}">
                <a16:creationId xmlns:a16="http://schemas.microsoft.com/office/drawing/2014/main" id="{44A73465-59FD-4D5B-B2A2-0388D1053E9E}"/>
              </a:ext>
            </a:extLst>
          </p:cNvPr>
          <p:cNvSpPr/>
          <p:nvPr/>
        </p:nvSpPr>
        <p:spPr>
          <a:xfrm>
            <a:off x="8701200" y="4194242"/>
            <a:ext cx="3465442" cy="1196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 detailed, customizable reports on incidents, safety status, and compliance for audit and review.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071453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ABCDFA08-5C43-4DB6-99B7-4F907E0C29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-161365" y="-544138"/>
            <a:ext cx="12353365" cy="1548849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5A529A11-C04D-48A4-8E71-9E6BF4C94432}"/>
              </a:ext>
            </a:extLst>
          </p:cNvPr>
          <p:cNvSpPr/>
          <p:nvPr/>
        </p:nvSpPr>
        <p:spPr>
          <a:xfrm>
            <a:off x="4522099" y="1267733"/>
            <a:ext cx="3260527" cy="426244"/>
          </a:xfrm>
          <a:prstGeom prst="roundRect">
            <a:avLst>
              <a:gd name="adj" fmla="val 17880"/>
            </a:avLst>
          </a:prstGeom>
          <a:solidFill>
            <a:srgbClr val="CCEEFF"/>
          </a:solidFill>
          <a:ln/>
        </p:spPr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BC039F3A-E157-424B-B092-0EDD8486E6F3}"/>
              </a:ext>
            </a:extLst>
          </p:cNvPr>
          <p:cNvSpPr/>
          <p:nvPr/>
        </p:nvSpPr>
        <p:spPr>
          <a:xfrm>
            <a:off x="4658187" y="1335717"/>
            <a:ext cx="3124439" cy="295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TECHNOLOGY STACK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B6C72686-D57D-497D-804E-31B79C970910}"/>
              </a:ext>
            </a:extLst>
          </p:cNvPr>
          <p:cNvSpPr/>
          <p:nvPr/>
        </p:nvSpPr>
        <p:spPr>
          <a:xfrm>
            <a:off x="3233249" y="1564577"/>
            <a:ext cx="9098756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Built on Robust and Scalable Foundations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6E70EBED-C786-46C1-A158-149CBB2EF2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5057" y="2407281"/>
            <a:ext cx="566976" cy="566976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FC7D0538-9D09-4747-B269-298275337A23}"/>
              </a:ext>
            </a:extLst>
          </p:cNvPr>
          <p:cNvSpPr/>
          <p:nvPr/>
        </p:nvSpPr>
        <p:spPr>
          <a:xfrm>
            <a:off x="94544" y="3242965"/>
            <a:ext cx="348007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chemeClr val="bg1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Modern Web Frameworks</a:t>
            </a:r>
            <a:endParaRPr lang="en-US" sz="2300" dirty="0">
              <a:solidFill>
                <a:schemeClr val="bg1"/>
              </a:solidFill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AB4AC7A8-8726-4882-A904-987BDDE02C35}"/>
              </a:ext>
            </a:extLst>
          </p:cNvPr>
          <p:cNvSpPr/>
          <p:nvPr/>
        </p:nvSpPr>
        <p:spPr>
          <a:xfrm>
            <a:off x="0" y="3763747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Ensuring a responsive and intuitive user experience across all devices.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7FABD590-DF9F-4440-95DE-4A221BA3BB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29024" y="2407281"/>
            <a:ext cx="566976" cy="566976"/>
          </a:xfrm>
          <a:prstGeom prst="rect">
            <a:avLst/>
          </a:prstGeom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6CCA7C5E-7607-4003-A9E4-A0606A4079D5}"/>
              </a:ext>
            </a:extLst>
          </p:cNvPr>
          <p:cNvSpPr/>
          <p:nvPr/>
        </p:nvSpPr>
        <p:spPr>
          <a:xfrm>
            <a:off x="4805588" y="330323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chemeClr val="bg1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Secure Database</a:t>
            </a:r>
            <a:endParaRPr lang="en-US" sz="2300" dirty="0">
              <a:solidFill>
                <a:schemeClr val="bg1"/>
              </a:solidFill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06CCBD44-4D1F-4F6E-B664-73A1C71BE148}"/>
              </a:ext>
            </a:extLst>
          </p:cNvPr>
          <p:cNvSpPr/>
          <p:nvPr/>
        </p:nvSpPr>
        <p:spPr>
          <a:xfrm>
            <a:off x="4522100" y="3804526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Reliable and encrypted storage for all critical safety data.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12" name="Image 3" descr="preencoded.png">
            <a:extLst>
              <a:ext uri="{FF2B5EF4-FFF2-40B4-BE49-F238E27FC236}">
                <a16:creationId xmlns:a16="http://schemas.microsoft.com/office/drawing/2014/main" id="{DDF1476C-3803-4F4B-BA68-E65C3EAAC32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89503" y="2407281"/>
            <a:ext cx="566976" cy="566976"/>
          </a:xfrm>
          <a:prstGeom prst="rect">
            <a:avLst/>
          </a:prstGeom>
        </p:spPr>
      </p:pic>
      <p:sp>
        <p:nvSpPr>
          <p:cNvPr id="13" name="Text 7">
            <a:extLst>
              <a:ext uri="{FF2B5EF4-FFF2-40B4-BE49-F238E27FC236}">
                <a16:creationId xmlns:a16="http://schemas.microsoft.com/office/drawing/2014/main" id="{56B57C62-2E94-4133-970E-D0A51732CD39}"/>
              </a:ext>
            </a:extLst>
          </p:cNvPr>
          <p:cNvSpPr/>
          <p:nvPr/>
        </p:nvSpPr>
        <p:spPr>
          <a:xfrm>
            <a:off x="8446815" y="3289414"/>
            <a:ext cx="360973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chemeClr val="bg1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Cloud-Native Architecture</a:t>
            </a:r>
            <a:endParaRPr lang="en-US" sz="2300" dirty="0">
              <a:solidFill>
                <a:schemeClr val="bg1"/>
              </a:solidFill>
            </a:endParaRPr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3EADF443-E493-4E10-8F5A-0FC67B023CC2}"/>
              </a:ext>
            </a:extLst>
          </p:cNvPr>
          <p:cNvSpPr/>
          <p:nvPr/>
        </p:nvSpPr>
        <p:spPr>
          <a:xfrm>
            <a:off x="8680715" y="4119683"/>
            <a:ext cx="3511285" cy="1186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Scalability, high availability, and seamless integration with existing IT infrastructure.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52580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F6DB3EF-D7C8-4048-94DD-F8DCB5C24DDE}"/>
              </a:ext>
            </a:extLst>
          </p:cNvPr>
          <p:cNvSpPr/>
          <p:nvPr/>
        </p:nvSpPr>
        <p:spPr>
          <a:xfrm>
            <a:off x="4853667" y="206764"/>
            <a:ext cx="2476216" cy="467255"/>
          </a:xfrm>
          <a:prstGeom prst="roundRect">
            <a:avLst>
              <a:gd name="adj" fmla="val 17880"/>
            </a:avLst>
          </a:prstGeom>
          <a:solidFill>
            <a:srgbClr val="CCEEFF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EDCBE36-0653-4C1C-A127-B7DB3B3688EA}"/>
              </a:ext>
            </a:extLst>
          </p:cNvPr>
          <p:cNvSpPr/>
          <p:nvPr/>
        </p:nvSpPr>
        <p:spPr>
          <a:xfrm>
            <a:off x="5118803" y="371882"/>
            <a:ext cx="1968816" cy="397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BENEFITS</a:t>
            </a:r>
            <a:endParaRPr lang="en-US" sz="2400" b="1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F42D5B1-9F28-4B4E-ADB4-E4400C23DD96}"/>
              </a:ext>
            </a:extLst>
          </p:cNvPr>
          <p:cNvSpPr/>
          <p:nvPr/>
        </p:nvSpPr>
        <p:spPr>
          <a:xfrm>
            <a:off x="-11559" y="0"/>
            <a:ext cx="4622962" cy="603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A966023-86EC-4D2C-B83A-98448C6205F1}"/>
              </a:ext>
            </a:extLst>
          </p:cNvPr>
          <p:cNvSpPr/>
          <p:nvPr/>
        </p:nvSpPr>
        <p:spPr>
          <a:xfrm>
            <a:off x="-201080" y="988044"/>
            <a:ext cx="6190084" cy="2058233"/>
          </a:xfrm>
          <a:prstGeom prst="roundRect">
            <a:avLst>
              <a:gd name="adj" fmla="val 7108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63D8B5B-D897-469D-9A88-7B536D29C504}"/>
              </a:ext>
            </a:extLst>
          </p:cNvPr>
          <p:cNvSpPr/>
          <p:nvPr/>
        </p:nvSpPr>
        <p:spPr>
          <a:xfrm>
            <a:off x="-221014" y="965268"/>
            <a:ext cx="6210018" cy="259885"/>
          </a:xfrm>
          <a:prstGeom prst="roundRect">
            <a:avLst>
              <a:gd name="adj" fmla="val 78139"/>
            </a:avLst>
          </a:prstGeom>
          <a:solidFill>
            <a:srgbClr val="007EBD"/>
          </a:solidFill>
          <a:ln/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29B0DC8-6F34-4215-8B47-987ABA2494D8}"/>
              </a:ext>
            </a:extLst>
          </p:cNvPr>
          <p:cNvSpPr/>
          <p:nvPr/>
        </p:nvSpPr>
        <p:spPr>
          <a:xfrm>
            <a:off x="2433443" y="657497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007EBD"/>
          </a:solidFill>
          <a:ln/>
        </p:spPr>
        <p:txBody>
          <a:bodyPr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C44CAAAD-AFBA-4B49-AE29-352D3B759CA9}"/>
              </a:ext>
            </a:extLst>
          </p:cNvPr>
          <p:cNvSpPr/>
          <p:nvPr/>
        </p:nvSpPr>
        <p:spPr>
          <a:xfrm>
            <a:off x="95648" y="1643910"/>
            <a:ext cx="337982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Enhanced Safety Culture</a:t>
            </a:r>
            <a:endParaRPr lang="en-US" sz="2300" dirty="0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D3886784-ACF3-41D1-886F-2CC874BF8862}"/>
              </a:ext>
            </a:extLst>
          </p:cNvPr>
          <p:cNvSpPr/>
          <p:nvPr/>
        </p:nvSpPr>
        <p:spPr>
          <a:xfrm>
            <a:off x="56214" y="2077696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Foster a proactive approach to safety, reducing risks and protecting assets.</a:t>
            </a:r>
            <a:endParaRPr lang="en-US" sz="1750" dirty="0"/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B9A89FBA-1ECC-4F2B-AEA6-EADF4CAB49C1}"/>
              </a:ext>
            </a:extLst>
          </p:cNvPr>
          <p:cNvSpPr/>
          <p:nvPr/>
        </p:nvSpPr>
        <p:spPr>
          <a:xfrm>
            <a:off x="6202998" y="973647"/>
            <a:ext cx="5852979" cy="2117063"/>
          </a:xfrm>
          <a:prstGeom prst="roundRect">
            <a:avLst>
              <a:gd name="adj" fmla="val 7108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3" name="Text 13">
            <a:extLst>
              <a:ext uri="{FF2B5EF4-FFF2-40B4-BE49-F238E27FC236}">
                <a16:creationId xmlns:a16="http://schemas.microsoft.com/office/drawing/2014/main" id="{BFCD2779-2BF5-48DD-AC1D-C5EDF5C4D138}"/>
              </a:ext>
            </a:extLst>
          </p:cNvPr>
          <p:cNvSpPr/>
          <p:nvPr/>
        </p:nvSpPr>
        <p:spPr>
          <a:xfrm>
            <a:off x="6564588" y="1685954"/>
            <a:ext cx="3075980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Operational Efficiency</a:t>
            </a:r>
            <a:endParaRPr lang="en-US" sz="2300" dirty="0"/>
          </a:p>
        </p:txBody>
      </p:sp>
      <p:sp>
        <p:nvSpPr>
          <p:cNvPr id="14" name="Text 14">
            <a:extLst>
              <a:ext uri="{FF2B5EF4-FFF2-40B4-BE49-F238E27FC236}">
                <a16:creationId xmlns:a16="http://schemas.microsoft.com/office/drawing/2014/main" id="{5C1FA7F5-C900-4BB1-BC16-153B58EE94E6}"/>
              </a:ext>
            </a:extLst>
          </p:cNvPr>
          <p:cNvSpPr/>
          <p:nvPr/>
        </p:nvSpPr>
        <p:spPr>
          <a:xfrm>
            <a:off x="6374298" y="2130911"/>
            <a:ext cx="5491388" cy="765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Streamline workflows, save time, and reduce administrative burdens for safety teams.</a:t>
            </a:r>
            <a:endParaRPr lang="en-US" sz="1750" dirty="0"/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6F413E97-EA6B-4E92-B01A-173EB68A16C5}"/>
              </a:ext>
            </a:extLst>
          </p:cNvPr>
          <p:cNvSpPr/>
          <p:nvPr/>
        </p:nvSpPr>
        <p:spPr>
          <a:xfrm>
            <a:off x="-131813" y="3415948"/>
            <a:ext cx="6120817" cy="2070031"/>
          </a:xfrm>
          <a:prstGeom prst="roundRect">
            <a:avLst>
              <a:gd name="adj" fmla="val 7108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7" name="Text 18">
            <a:extLst>
              <a:ext uri="{FF2B5EF4-FFF2-40B4-BE49-F238E27FC236}">
                <a16:creationId xmlns:a16="http://schemas.microsoft.com/office/drawing/2014/main" id="{52984BD8-6950-43B2-9A80-317F9B1342A6}"/>
              </a:ext>
            </a:extLst>
          </p:cNvPr>
          <p:cNvSpPr/>
          <p:nvPr/>
        </p:nvSpPr>
        <p:spPr>
          <a:xfrm>
            <a:off x="4521808" y="2896897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endParaRPr lang="en-US" sz="2100" dirty="0"/>
          </a:p>
        </p:txBody>
      </p:sp>
      <p:sp>
        <p:nvSpPr>
          <p:cNvPr id="18" name="Text 19">
            <a:extLst>
              <a:ext uri="{FF2B5EF4-FFF2-40B4-BE49-F238E27FC236}">
                <a16:creationId xmlns:a16="http://schemas.microsoft.com/office/drawing/2014/main" id="{E2EEE8F1-9101-4C4E-98AB-B3B08C5FBA45}"/>
              </a:ext>
            </a:extLst>
          </p:cNvPr>
          <p:cNvSpPr/>
          <p:nvPr/>
        </p:nvSpPr>
        <p:spPr>
          <a:xfrm>
            <a:off x="95648" y="3914876"/>
            <a:ext cx="319206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Regulatory Compliance</a:t>
            </a:r>
            <a:endParaRPr lang="en-US" sz="2300" dirty="0"/>
          </a:p>
        </p:txBody>
      </p:sp>
      <p:sp>
        <p:nvSpPr>
          <p:cNvPr id="19" name="Text 20">
            <a:extLst>
              <a:ext uri="{FF2B5EF4-FFF2-40B4-BE49-F238E27FC236}">
                <a16:creationId xmlns:a16="http://schemas.microsoft.com/office/drawing/2014/main" id="{13837CE7-10A1-4DEF-988A-E34F43B1D015}"/>
              </a:ext>
            </a:extLst>
          </p:cNvPr>
          <p:cNvSpPr/>
          <p:nvPr/>
        </p:nvSpPr>
        <p:spPr>
          <a:xfrm>
            <a:off x="56539" y="4594195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Easily meet and demonstrate adherence to industry safety standards and regulations.</a:t>
            </a:r>
            <a:endParaRPr lang="en-US" sz="1750" dirty="0"/>
          </a:p>
        </p:txBody>
      </p:sp>
      <p:sp>
        <p:nvSpPr>
          <p:cNvPr id="20" name="Shape 21">
            <a:extLst>
              <a:ext uri="{FF2B5EF4-FFF2-40B4-BE49-F238E27FC236}">
                <a16:creationId xmlns:a16="http://schemas.microsoft.com/office/drawing/2014/main" id="{7DAA71E9-F56E-45C5-AF07-AF709938EB2C}"/>
              </a:ext>
            </a:extLst>
          </p:cNvPr>
          <p:cNvSpPr/>
          <p:nvPr/>
        </p:nvSpPr>
        <p:spPr>
          <a:xfrm>
            <a:off x="6096001" y="3395591"/>
            <a:ext cx="6000352" cy="2058233"/>
          </a:xfrm>
          <a:prstGeom prst="roundRect">
            <a:avLst>
              <a:gd name="adj" fmla="val 7108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23" name="Text 25">
            <a:extLst>
              <a:ext uri="{FF2B5EF4-FFF2-40B4-BE49-F238E27FC236}">
                <a16:creationId xmlns:a16="http://schemas.microsoft.com/office/drawing/2014/main" id="{204FCD26-BB9E-49B7-97BF-FE6AD6835959}"/>
              </a:ext>
            </a:extLst>
          </p:cNvPr>
          <p:cNvSpPr/>
          <p:nvPr/>
        </p:nvSpPr>
        <p:spPr>
          <a:xfrm>
            <a:off x="6374298" y="392311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Cost Reduction</a:t>
            </a:r>
            <a:endParaRPr lang="en-US" sz="2300" dirty="0"/>
          </a:p>
        </p:txBody>
      </p:sp>
      <p:sp>
        <p:nvSpPr>
          <p:cNvPr id="24" name="Text 26">
            <a:extLst>
              <a:ext uri="{FF2B5EF4-FFF2-40B4-BE49-F238E27FC236}">
                <a16:creationId xmlns:a16="http://schemas.microsoft.com/office/drawing/2014/main" id="{3D19A7E0-0B06-4B10-8A8E-69568A7BF4AE}"/>
              </a:ext>
            </a:extLst>
          </p:cNvPr>
          <p:cNvSpPr/>
          <p:nvPr/>
        </p:nvSpPr>
        <p:spPr>
          <a:xfrm>
            <a:off x="6374298" y="4566066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Minimize potential losses from incidents and reduce insurance premiums through improved safety records.</a:t>
            </a:r>
            <a:endParaRPr lang="en-US" sz="1750" dirty="0"/>
          </a:p>
        </p:txBody>
      </p:sp>
      <p:sp>
        <p:nvSpPr>
          <p:cNvPr id="26" name="Shape 4">
            <a:extLst>
              <a:ext uri="{FF2B5EF4-FFF2-40B4-BE49-F238E27FC236}">
                <a16:creationId xmlns:a16="http://schemas.microsoft.com/office/drawing/2014/main" id="{B0752284-ADCE-4696-8A17-02AD6BC75C8B}"/>
              </a:ext>
            </a:extLst>
          </p:cNvPr>
          <p:cNvSpPr/>
          <p:nvPr/>
        </p:nvSpPr>
        <p:spPr>
          <a:xfrm>
            <a:off x="6202998" y="973647"/>
            <a:ext cx="5873203" cy="280235"/>
          </a:xfrm>
          <a:prstGeom prst="roundRect">
            <a:avLst>
              <a:gd name="adj" fmla="val 78139"/>
            </a:avLst>
          </a:prstGeom>
          <a:solidFill>
            <a:srgbClr val="007EBD"/>
          </a:solidFill>
          <a:ln/>
        </p:spPr>
      </p:sp>
      <p:sp>
        <p:nvSpPr>
          <p:cNvPr id="27" name="Shape 5">
            <a:extLst>
              <a:ext uri="{FF2B5EF4-FFF2-40B4-BE49-F238E27FC236}">
                <a16:creationId xmlns:a16="http://schemas.microsoft.com/office/drawing/2014/main" id="{8F502362-D2C6-46D0-B125-CA985B166734}"/>
              </a:ext>
            </a:extLst>
          </p:cNvPr>
          <p:cNvSpPr/>
          <p:nvPr/>
        </p:nvSpPr>
        <p:spPr>
          <a:xfrm>
            <a:off x="8670761" y="665875"/>
            <a:ext cx="643537" cy="733723"/>
          </a:xfrm>
          <a:prstGeom prst="roundRect">
            <a:avLst>
              <a:gd name="adj" fmla="val 134383"/>
            </a:avLst>
          </a:prstGeom>
          <a:solidFill>
            <a:srgbClr val="007EBD"/>
          </a:solidFill>
          <a:ln/>
        </p:spPr>
        <p:txBody>
          <a:bodyPr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8" name="Shape 4">
            <a:extLst>
              <a:ext uri="{FF2B5EF4-FFF2-40B4-BE49-F238E27FC236}">
                <a16:creationId xmlns:a16="http://schemas.microsoft.com/office/drawing/2014/main" id="{E5DC2F4F-7727-4364-81A7-A647E5099833}"/>
              </a:ext>
            </a:extLst>
          </p:cNvPr>
          <p:cNvSpPr/>
          <p:nvPr/>
        </p:nvSpPr>
        <p:spPr>
          <a:xfrm>
            <a:off x="-103792" y="3395591"/>
            <a:ext cx="6064774" cy="210300"/>
          </a:xfrm>
          <a:prstGeom prst="roundRect">
            <a:avLst>
              <a:gd name="adj" fmla="val 78139"/>
            </a:avLst>
          </a:prstGeom>
          <a:solidFill>
            <a:srgbClr val="007EBD"/>
          </a:solidFill>
          <a:ln/>
        </p:spPr>
      </p:sp>
      <p:sp>
        <p:nvSpPr>
          <p:cNvPr id="29" name="Shape 5">
            <a:extLst>
              <a:ext uri="{FF2B5EF4-FFF2-40B4-BE49-F238E27FC236}">
                <a16:creationId xmlns:a16="http://schemas.microsoft.com/office/drawing/2014/main" id="{12C38F5B-07EE-430C-BCEA-3EA95292D9F9}"/>
              </a:ext>
            </a:extLst>
          </p:cNvPr>
          <p:cNvSpPr/>
          <p:nvPr/>
        </p:nvSpPr>
        <p:spPr>
          <a:xfrm>
            <a:off x="2489489" y="3172146"/>
            <a:ext cx="664528" cy="550616"/>
          </a:xfrm>
          <a:prstGeom prst="roundRect">
            <a:avLst>
              <a:gd name="adj" fmla="val 134383"/>
            </a:avLst>
          </a:prstGeom>
          <a:solidFill>
            <a:srgbClr val="007EBD"/>
          </a:solidFill>
          <a:ln/>
        </p:spPr>
        <p:txBody>
          <a:bodyPr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30" name="Shape 4">
            <a:extLst>
              <a:ext uri="{FF2B5EF4-FFF2-40B4-BE49-F238E27FC236}">
                <a16:creationId xmlns:a16="http://schemas.microsoft.com/office/drawing/2014/main" id="{E5979A5E-AF0F-4B34-AFC3-A3E61CE7BC55}"/>
              </a:ext>
            </a:extLst>
          </p:cNvPr>
          <p:cNvSpPr/>
          <p:nvPr/>
        </p:nvSpPr>
        <p:spPr>
          <a:xfrm>
            <a:off x="6096000" y="3400711"/>
            <a:ext cx="6064774" cy="210300"/>
          </a:xfrm>
          <a:prstGeom prst="roundRect">
            <a:avLst>
              <a:gd name="adj" fmla="val 78139"/>
            </a:avLst>
          </a:prstGeom>
          <a:solidFill>
            <a:srgbClr val="007EBD"/>
          </a:solidFill>
          <a:ln/>
        </p:spPr>
      </p:sp>
      <p:sp>
        <p:nvSpPr>
          <p:cNvPr id="31" name="Shape 5">
            <a:extLst>
              <a:ext uri="{FF2B5EF4-FFF2-40B4-BE49-F238E27FC236}">
                <a16:creationId xmlns:a16="http://schemas.microsoft.com/office/drawing/2014/main" id="{BCF5F0D0-337B-4CBF-8443-5596262F348C}"/>
              </a:ext>
            </a:extLst>
          </p:cNvPr>
          <p:cNvSpPr/>
          <p:nvPr/>
        </p:nvSpPr>
        <p:spPr>
          <a:xfrm>
            <a:off x="8689281" y="3177266"/>
            <a:ext cx="664528" cy="550616"/>
          </a:xfrm>
          <a:prstGeom prst="roundRect">
            <a:avLst>
              <a:gd name="adj" fmla="val 134383"/>
            </a:avLst>
          </a:prstGeom>
          <a:solidFill>
            <a:srgbClr val="007EBD"/>
          </a:solidFill>
          <a:ln/>
        </p:spPr>
        <p:txBody>
          <a:bodyPr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0634367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52D7CBB-5432-44F9-B47B-3B8C01B8D0FF}"/>
              </a:ext>
            </a:extLst>
          </p:cNvPr>
          <p:cNvSpPr/>
          <p:nvPr/>
        </p:nvSpPr>
        <p:spPr>
          <a:xfrm>
            <a:off x="4628534" y="925158"/>
            <a:ext cx="2191814" cy="430306"/>
          </a:xfrm>
          <a:prstGeom prst="roundRect">
            <a:avLst>
              <a:gd name="adj" fmla="val 17880"/>
            </a:avLst>
          </a:prstGeom>
          <a:solidFill>
            <a:srgbClr val="CCEEFF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0D58C47-4ED4-4EBC-8B9A-44131C0B4C37}"/>
              </a:ext>
            </a:extLst>
          </p:cNvPr>
          <p:cNvSpPr/>
          <p:nvPr/>
        </p:nvSpPr>
        <p:spPr>
          <a:xfrm>
            <a:off x="5016430" y="1067283"/>
            <a:ext cx="1416021" cy="236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SCREENSHOTS</a:t>
            </a:r>
            <a:endParaRPr lang="en-US" sz="20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9AB26F-6FA0-4ECF-81F2-9E50B8C09A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-146244" y="1920368"/>
            <a:ext cx="2941462" cy="2047386"/>
          </a:xfrm>
          <a:prstGeom prst="rect">
            <a:avLst/>
          </a:prstGeom>
        </p:spPr>
      </p:pic>
      <p:sp>
        <p:nvSpPr>
          <p:cNvPr id="9" name="Shape 0">
            <a:extLst>
              <a:ext uri="{FF2B5EF4-FFF2-40B4-BE49-F238E27FC236}">
                <a16:creationId xmlns:a16="http://schemas.microsoft.com/office/drawing/2014/main" id="{21DF3CC9-1946-4867-83C3-A71733D67A46}"/>
              </a:ext>
            </a:extLst>
          </p:cNvPr>
          <p:cNvSpPr/>
          <p:nvPr/>
        </p:nvSpPr>
        <p:spPr>
          <a:xfrm>
            <a:off x="166818" y="4138152"/>
            <a:ext cx="2191814" cy="430306"/>
          </a:xfrm>
          <a:prstGeom prst="roundRect">
            <a:avLst>
              <a:gd name="adj" fmla="val 17880"/>
            </a:avLst>
          </a:prstGeom>
          <a:solidFill>
            <a:srgbClr val="CCEEFF"/>
          </a:solidFill>
          <a:ln/>
        </p:spPr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5AA002A0-C4A4-4891-83A7-01E3F84AD9BA}"/>
              </a:ext>
            </a:extLst>
          </p:cNvPr>
          <p:cNvSpPr/>
          <p:nvPr/>
        </p:nvSpPr>
        <p:spPr>
          <a:xfrm>
            <a:off x="351928" y="4210036"/>
            <a:ext cx="1821594" cy="293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b="1" dirty="0"/>
              <a:t>Login/</a:t>
            </a:r>
            <a:r>
              <a:rPr lang="en-US" sz="2000" b="1" dirty="0" err="1"/>
              <a:t>singup</a:t>
            </a:r>
            <a:endParaRPr lang="en-US" sz="2000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35F8990-EE0D-4F3B-9B04-4215D271EA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4920" y="1920368"/>
            <a:ext cx="2653622" cy="2047386"/>
          </a:xfrm>
          <a:prstGeom prst="rect">
            <a:avLst/>
          </a:prstGeom>
        </p:spPr>
      </p:pic>
      <p:sp>
        <p:nvSpPr>
          <p:cNvPr id="15" name="Shape 0">
            <a:extLst>
              <a:ext uri="{FF2B5EF4-FFF2-40B4-BE49-F238E27FC236}">
                <a16:creationId xmlns:a16="http://schemas.microsoft.com/office/drawing/2014/main" id="{3D4D3E99-A4FB-4BD9-A49B-B9213B51FB27}"/>
              </a:ext>
            </a:extLst>
          </p:cNvPr>
          <p:cNvSpPr/>
          <p:nvPr/>
        </p:nvSpPr>
        <p:spPr>
          <a:xfrm>
            <a:off x="3071528" y="4138152"/>
            <a:ext cx="2191814" cy="430306"/>
          </a:xfrm>
          <a:prstGeom prst="roundRect">
            <a:avLst>
              <a:gd name="adj" fmla="val 17880"/>
            </a:avLst>
          </a:prstGeom>
          <a:solidFill>
            <a:srgbClr val="CCEEF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C777864C-03A7-4305-9110-CC73F63F67F7}"/>
              </a:ext>
            </a:extLst>
          </p:cNvPr>
          <p:cNvSpPr/>
          <p:nvPr/>
        </p:nvSpPr>
        <p:spPr>
          <a:xfrm>
            <a:off x="3256638" y="4211054"/>
            <a:ext cx="1821594" cy="293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b="1" dirty="0"/>
              <a:t>Dashboard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93809BD-4397-428E-8FCA-6F15DFAE81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8244" y="1858835"/>
            <a:ext cx="2724662" cy="2170452"/>
          </a:xfrm>
          <a:prstGeom prst="rect">
            <a:avLst/>
          </a:prstGeom>
        </p:spPr>
      </p:pic>
      <p:sp>
        <p:nvSpPr>
          <p:cNvPr id="20" name="Shape 0">
            <a:extLst>
              <a:ext uri="{FF2B5EF4-FFF2-40B4-BE49-F238E27FC236}">
                <a16:creationId xmlns:a16="http://schemas.microsoft.com/office/drawing/2014/main" id="{6EE94FE5-B756-4C58-9474-E35C7AD2EA92}"/>
              </a:ext>
            </a:extLst>
          </p:cNvPr>
          <p:cNvSpPr/>
          <p:nvPr/>
        </p:nvSpPr>
        <p:spPr>
          <a:xfrm>
            <a:off x="5976238" y="4166039"/>
            <a:ext cx="2191814" cy="430306"/>
          </a:xfrm>
          <a:prstGeom prst="roundRect">
            <a:avLst>
              <a:gd name="adj" fmla="val 17880"/>
            </a:avLst>
          </a:prstGeom>
          <a:solidFill>
            <a:srgbClr val="CCEEF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48A66C2A-CEDB-4D54-871B-ADCE4078C888}"/>
              </a:ext>
            </a:extLst>
          </p:cNvPr>
          <p:cNvSpPr/>
          <p:nvPr/>
        </p:nvSpPr>
        <p:spPr>
          <a:xfrm>
            <a:off x="6161348" y="4238941"/>
            <a:ext cx="1821594" cy="293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b="1" dirty="0"/>
              <a:t>Places </a:t>
            </a:r>
            <a:r>
              <a:rPr lang="en-US" sz="2000" b="1" dirty="0" err="1"/>
              <a:t>Registery</a:t>
            </a:r>
            <a:endParaRPr lang="en-US" sz="2000" b="1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BE5148A-94F8-4AB1-B17E-0366699635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2463" y="1923927"/>
            <a:ext cx="2998676" cy="2132465"/>
          </a:xfrm>
          <a:prstGeom prst="rect">
            <a:avLst/>
          </a:prstGeom>
        </p:spPr>
      </p:pic>
      <p:sp>
        <p:nvSpPr>
          <p:cNvPr id="26" name="Shape 0">
            <a:extLst>
              <a:ext uri="{FF2B5EF4-FFF2-40B4-BE49-F238E27FC236}">
                <a16:creationId xmlns:a16="http://schemas.microsoft.com/office/drawing/2014/main" id="{47072D8F-DB8A-4291-B294-3FC749FC4AC4}"/>
              </a:ext>
            </a:extLst>
          </p:cNvPr>
          <p:cNvSpPr/>
          <p:nvPr/>
        </p:nvSpPr>
        <p:spPr>
          <a:xfrm>
            <a:off x="9226840" y="4230411"/>
            <a:ext cx="2191814" cy="430306"/>
          </a:xfrm>
          <a:prstGeom prst="roundRect">
            <a:avLst>
              <a:gd name="adj" fmla="val 17880"/>
            </a:avLst>
          </a:prstGeom>
          <a:solidFill>
            <a:srgbClr val="CCEEF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51D45B7D-EDAE-4188-8063-B5B6AE924275}"/>
              </a:ext>
            </a:extLst>
          </p:cNvPr>
          <p:cNvSpPr/>
          <p:nvPr/>
        </p:nvSpPr>
        <p:spPr>
          <a:xfrm>
            <a:off x="9411950" y="4303313"/>
            <a:ext cx="1821594" cy="293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b="1" dirty="0"/>
              <a:t>Places Categories</a:t>
            </a:r>
          </a:p>
        </p:txBody>
      </p:sp>
    </p:spTree>
    <p:extLst>
      <p:ext uri="{BB962C8B-B14F-4D97-AF65-F5344CB8AC3E}">
        <p14:creationId xmlns:p14="http://schemas.microsoft.com/office/powerpoint/2010/main" val="21026496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3613EE3-1DFE-457B-B349-E74E582C66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-146244" y="1920367"/>
            <a:ext cx="2941462" cy="2047386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EB7909EC-CFD6-4180-BBAD-85B1AA160F57}"/>
              </a:ext>
            </a:extLst>
          </p:cNvPr>
          <p:cNvSpPr/>
          <p:nvPr/>
        </p:nvSpPr>
        <p:spPr>
          <a:xfrm>
            <a:off x="145303" y="4180593"/>
            <a:ext cx="2191814" cy="430306"/>
          </a:xfrm>
          <a:prstGeom prst="roundRect">
            <a:avLst>
              <a:gd name="adj" fmla="val 17880"/>
            </a:avLst>
          </a:prstGeom>
          <a:solidFill>
            <a:srgbClr val="CCEEFF"/>
          </a:solidFill>
          <a:ln/>
        </p:spPr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0ECFD4DD-40E7-4D9B-8F81-F8A68E57F281}"/>
              </a:ext>
            </a:extLst>
          </p:cNvPr>
          <p:cNvSpPr/>
          <p:nvPr/>
        </p:nvSpPr>
        <p:spPr>
          <a:xfrm>
            <a:off x="351928" y="4210036"/>
            <a:ext cx="1821594" cy="293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b="1" dirty="0"/>
              <a:t>Staff </a:t>
            </a:r>
            <a:r>
              <a:rPr lang="en-US" sz="2000" b="1" dirty="0" err="1"/>
              <a:t>manegment</a:t>
            </a:r>
            <a:endParaRPr lang="en-US" sz="20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557EDC-836E-4DFF-8DE9-9091D452E7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4920" y="1858835"/>
            <a:ext cx="2653622" cy="2108918"/>
          </a:xfrm>
          <a:prstGeom prst="rect">
            <a:avLst/>
          </a:prstGeom>
        </p:spPr>
      </p:pic>
      <p:sp>
        <p:nvSpPr>
          <p:cNvPr id="6" name="Shape 0">
            <a:extLst>
              <a:ext uri="{FF2B5EF4-FFF2-40B4-BE49-F238E27FC236}">
                <a16:creationId xmlns:a16="http://schemas.microsoft.com/office/drawing/2014/main" id="{B1A49B04-7358-4E32-8C3F-75A9BE413D9F}"/>
              </a:ext>
            </a:extLst>
          </p:cNvPr>
          <p:cNvSpPr/>
          <p:nvPr/>
        </p:nvSpPr>
        <p:spPr>
          <a:xfrm>
            <a:off x="3071528" y="4138152"/>
            <a:ext cx="2191814" cy="430306"/>
          </a:xfrm>
          <a:prstGeom prst="roundRect">
            <a:avLst>
              <a:gd name="adj" fmla="val 17880"/>
            </a:avLst>
          </a:prstGeom>
          <a:solidFill>
            <a:srgbClr val="CCEEF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13E1CD1D-221E-44AC-AF02-E0DC73F24429}"/>
              </a:ext>
            </a:extLst>
          </p:cNvPr>
          <p:cNvSpPr/>
          <p:nvPr/>
        </p:nvSpPr>
        <p:spPr>
          <a:xfrm>
            <a:off x="3256638" y="4211054"/>
            <a:ext cx="1821594" cy="293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b="1" dirty="0"/>
              <a:t>Chemical inventory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8807C68-7CC3-4343-95EC-A19C8EDFA1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8244" y="1858834"/>
            <a:ext cx="2724662" cy="2132465"/>
          </a:xfrm>
          <a:prstGeom prst="rect">
            <a:avLst/>
          </a:prstGeom>
        </p:spPr>
      </p:pic>
      <p:sp>
        <p:nvSpPr>
          <p:cNvPr id="9" name="Shape 0">
            <a:extLst>
              <a:ext uri="{FF2B5EF4-FFF2-40B4-BE49-F238E27FC236}">
                <a16:creationId xmlns:a16="http://schemas.microsoft.com/office/drawing/2014/main" id="{8D163156-0A7F-433D-A190-5177F7432B15}"/>
              </a:ext>
            </a:extLst>
          </p:cNvPr>
          <p:cNvSpPr/>
          <p:nvPr/>
        </p:nvSpPr>
        <p:spPr>
          <a:xfrm>
            <a:off x="5767963" y="4152706"/>
            <a:ext cx="2608364" cy="430306"/>
          </a:xfrm>
          <a:prstGeom prst="roundRect">
            <a:avLst>
              <a:gd name="adj" fmla="val 17880"/>
            </a:avLst>
          </a:prstGeom>
          <a:solidFill>
            <a:srgbClr val="CCEEFF"/>
          </a:solidFill>
          <a:ln/>
        </p:spPr>
        <p:txBody>
          <a:bodyPr/>
          <a:lstStyle/>
          <a:p>
            <a:r>
              <a:rPr lang="en-US" sz="2000" b="1" dirty="0"/>
              <a:t>fire incident reports</a:t>
            </a:r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F36B53BC-E465-482F-B0D6-FF13BFDC52E7}"/>
              </a:ext>
            </a:extLst>
          </p:cNvPr>
          <p:cNvSpPr/>
          <p:nvPr/>
        </p:nvSpPr>
        <p:spPr>
          <a:xfrm>
            <a:off x="6161348" y="4238941"/>
            <a:ext cx="1821594" cy="293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endParaRPr lang="en-US" sz="2000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525FB17-F1DA-4273-B766-47E003C676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3409" y="1858835"/>
            <a:ext cx="2998676" cy="2108918"/>
          </a:xfrm>
          <a:prstGeom prst="rect">
            <a:avLst/>
          </a:prstGeom>
        </p:spPr>
      </p:pic>
      <p:sp>
        <p:nvSpPr>
          <p:cNvPr id="12" name="Shape 0">
            <a:extLst>
              <a:ext uri="{FF2B5EF4-FFF2-40B4-BE49-F238E27FC236}">
                <a16:creationId xmlns:a16="http://schemas.microsoft.com/office/drawing/2014/main" id="{8CEBCD66-7658-4E2F-84A8-1019652FC9F9}"/>
              </a:ext>
            </a:extLst>
          </p:cNvPr>
          <p:cNvSpPr/>
          <p:nvPr/>
        </p:nvSpPr>
        <p:spPr>
          <a:xfrm>
            <a:off x="9226840" y="4230411"/>
            <a:ext cx="2191814" cy="430306"/>
          </a:xfrm>
          <a:prstGeom prst="roundRect">
            <a:avLst>
              <a:gd name="adj" fmla="val 17880"/>
            </a:avLst>
          </a:prstGeom>
          <a:solidFill>
            <a:srgbClr val="CCEEF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C063DB64-574F-4CDC-B3AB-990AB46FBAF4}"/>
              </a:ext>
            </a:extLst>
          </p:cNvPr>
          <p:cNvSpPr/>
          <p:nvPr/>
        </p:nvSpPr>
        <p:spPr>
          <a:xfrm>
            <a:off x="9411950" y="4303313"/>
            <a:ext cx="1821594" cy="293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b="1" dirty="0"/>
              <a:t>Reports Generation</a:t>
            </a:r>
          </a:p>
        </p:txBody>
      </p:sp>
      <p:sp>
        <p:nvSpPr>
          <p:cNvPr id="14" name="Shape 0">
            <a:extLst>
              <a:ext uri="{FF2B5EF4-FFF2-40B4-BE49-F238E27FC236}">
                <a16:creationId xmlns:a16="http://schemas.microsoft.com/office/drawing/2014/main" id="{F48D4D96-8F9E-49F6-96BD-198A137FC6C6}"/>
              </a:ext>
            </a:extLst>
          </p:cNvPr>
          <p:cNvSpPr/>
          <p:nvPr/>
        </p:nvSpPr>
        <p:spPr>
          <a:xfrm>
            <a:off x="4281731" y="747985"/>
            <a:ext cx="2460756" cy="600436"/>
          </a:xfrm>
          <a:prstGeom prst="roundRect">
            <a:avLst>
              <a:gd name="adj" fmla="val 17880"/>
            </a:avLst>
          </a:prstGeom>
          <a:solidFill>
            <a:srgbClr val="CCEEFF"/>
          </a:solidFill>
          <a:ln/>
        </p:spPr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EE86877F-1E28-4665-81DB-5E2FA2F6F96E}"/>
              </a:ext>
            </a:extLst>
          </p:cNvPr>
          <p:cNvSpPr/>
          <p:nvPr/>
        </p:nvSpPr>
        <p:spPr>
          <a:xfrm>
            <a:off x="4804098" y="930152"/>
            <a:ext cx="1416021" cy="236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000"/>
              </a:lnSpc>
            </a:pPr>
            <a:r>
              <a:rPr lang="en-US" sz="2000" b="1" dirty="0"/>
              <a:t>Screenshots continue.</a:t>
            </a:r>
          </a:p>
        </p:txBody>
      </p:sp>
    </p:spTree>
    <p:extLst>
      <p:ext uri="{BB962C8B-B14F-4D97-AF65-F5344CB8AC3E}">
        <p14:creationId xmlns:p14="http://schemas.microsoft.com/office/powerpoint/2010/main" val="2068069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B6D561B-7306-4A4F-8198-6D999F9785C1}"/>
              </a:ext>
            </a:extLst>
          </p:cNvPr>
          <p:cNvSpPr/>
          <p:nvPr/>
        </p:nvSpPr>
        <p:spPr>
          <a:xfrm>
            <a:off x="4915128" y="-408147"/>
            <a:ext cx="2765831" cy="426244"/>
          </a:xfrm>
          <a:prstGeom prst="roundRect">
            <a:avLst>
              <a:gd name="adj" fmla="val 17880"/>
            </a:avLst>
          </a:prstGeom>
          <a:solidFill>
            <a:srgbClr val="CCEEFF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B412F0D-D362-49EF-BF34-25A5A56A5F60}"/>
              </a:ext>
            </a:extLst>
          </p:cNvPr>
          <p:cNvSpPr/>
          <p:nvPr/>
        </p:nvSpPr>
        <p:spPr>
          <a:xfrm>
            <a:off x="5051217" y="-340162"/>
            <a:ext cx="226066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CONCLUSION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89540CB-2B8C-45D4-ADD4-F3EBCC2E1B6D}"/>
              </a:ext>
            </a:extLst>
          </p:cNvPr>
          <p:cNvSpPr/>
          <p:nvPr/>
        </p:nvSpPr>
        <p:spPr>
          <a:xfrm>
            <a:off x="3020622" y="139999"/>
            <a:ext cx="7556421" cy="1190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4000" b="1" i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Secure Your Future with Advanced Fire Safety</a:t>
            </a:r>
            <a:endParaRPr lang="en-US" sz="4000" b="1" i="1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C97D2FE-41B3-474C-B1D2-7E6F8417BC24}"/>
              </a:ext>
            </a:extLst>
          </p:cNvPr>
          <p:cNvSpPr/>
          <p:nvPr/>
        </p:nvSpPr>
        <p:spPr>
          <a:xfrm>
            <a:off x="2802806" y="1548312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Fire Safety Management System offers a holistic and modern approach to fire safety, protecting your people, property, and reputation.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D5063781-352A-41D3-B223-C573736865E3}"/>
              </a:ext>
            </a:extLst>
          </p:cNvPr>
          <p:cNvSpPr/>
          <p:nvPr/>
        </p:nvSpPr>
        <p:spPr>
          <a:xfrm>
            <a:off x="2554857" y="2861077"/>
            <a:ext cx="3845563" cy="1190863"/>
          </a:xfrm>
          <a:prstGeom prst="roundRect">
            <a:avLst>
              <a:gd name="adj" fmla="val 7954"/>
            </a:avLst>
          </a:prstGeom>
          <a:solidFill>
            <a:srgbClr val="CCEEFF"/>
          </a:solidFill>
          <a:ln/>
        </p:spPr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80B4A7BB-E0D5-4B61-B16B-1E4C25E744DA}"/>
              </a:ext>
            </a:extLst>
          </p:cNvPr>
          <p:cNvSpPr/>
          <p:nvPr/>
        </p:nvSpPr>
        <p:spPr>
          <a:xfrm>
            <a:off x="2802806" y="3056929"/>
            <a:ext cx="3316962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Proactive Risk Management</a:t>
            </a:r>
            <a:endParaRPr lang="en-US" sz="2300" dirty="0"/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146296CB-419C-48DB-8507-8E48FC3F2C44}"/>
              </a:ext>
            </a:extLst>
          </p:cNvPr>
          <p:cNvSpPr/>
          <p:nvPr/>
        </p:nvSpPr>
        <p:spPr>
          <a:xfrm>
            <a:off x="6325448" y="2867042"/>
            <a:ext cx="3770590" cy="1197769"/>
          </a:xfrm>
          <a:prstGeom prst="rect">
            <a:avLst/>
          </a:prstGeom>
          <a:solidFill>
            <a:srgbClr val="CCEEFF"/>
          </a:solidFill>
          <a:ln/>
        </p:spPr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4C0DD469-498D-4DEF-B246-808F77806774}"/>
              </a:ext>
            </a:extLst>
          </p:cNvPr>
          <p:cNvSpPr/>
          <p:nvPr/>
        </p:nvSpPr>
        <p:spPr>
          <a:xfrm>
            <a:off x="6573396" y="3056929"/>
            <a:ext cx="3274695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Streamlined Operations</a:t>
            </a:r>
            <a:endParaRPr lang="en-US" sz="2300" dirty="0"/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9C3EC949-A26E-4E98-9019-55571D43A56C}"/>
              </a:ext>
            </a:extLst>
          </p:cNvPr>
          <p:cNvSpPr/>
          <p:nvPr/>
        </p:nvSpPr>
        <p:spPr>
          <a:xfrm>
            <a:off x="2554857" y="4027884"/>
            <a:ext cx="7541181" cy="825698"/>
          </a:xfrm>
          <a:prstGeom prst="rect">
            <a:avLst/>
          </a:prstGeom>
          <a:solidFill>
            <a:srgbClr val="CCEEFF"/>
          </a:solidFill>
          <a:ln/>
        </p:spPr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7184472C-7E74-4070-9E49-65592D7426A2}"/>
              </a:ext>
            </a:extLst>
          </p:cNvPr>
          <p:cNvSpPr/>
          <p:nvPr/>
        </p:nvSpPr>
        <p:spPr>
          <a:xfrm>
            <a:off x="2802806" y="425469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Assured Compliance</a:t>
            </a:r>
            <a:endParaRPr lang="en-US" sz="2300" dirty="0"/>
          </a:p>
        </p:txBody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6876A5A4-B8F4-4D42-96A6-0C1585D41D27}"/>
              </a:ext>
            </a:extLst>
          </p:cNvPr>
          <p:cNvSpPr/>
          <p:nvPr/>
        </p:nvSpPr>
        <p:spPr>
          <a:xfrm>
            <a:off x="2317789" y="496656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 in the future of safety with our innovative solution.</a:t>
            </a:r>
            <a:endParaRPr lang="en-US" sz="2400" b="1" dirty="0">
              <a:solidFill>
                <a:schemeClr val="bg1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7459962-B358-4305-8AFF-F3E4BDF543FB}"/>
              </a:ext>
            </a:extLst>
          </p:cNvPr>
          <p:cNvCxnSpPr/>
          <p:nvPr/>
        </p:nvCxnSpPr>
        <p:spPr>
          <a:xfrm>
            <a:off x="6917167" y="3958109"/>
            <a:ext cx="0" cy="222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374889B-4819-442D-8982-C3BD4B72DCEB}"/>
              </a:ext>
            </a:extLst>
          </p:cNvPr>
          <p:cNvCxnSpPr/>
          <p:nvPr/>
        </p:nvCxnSpPr>
        <p:spPr>
          <a:xfrm>
            <a:off x="6400420" y="2867042"/>
            <a:ext cx="0" cy="20340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0601894-0BF1-4575-9248-771FC9F2577C}"/>
              </a:ext>
            </a:extLst>
          </p:cNvPr>
          <p:cNvCxnSpPr/>
          <p:nvPr/>
        </p:nvCxnSpPr>
        <p:spPr>
          <a:xfrm>
            <a:off x="2554857" y="4027884"/>
            <a:ext cx="7541181" cy="2405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41637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9C883B00-3611-4785-80A7-E1C063025F6D}"/>
              </a:ext>
            </a:extLst>
          </p:cNvPr>
          <p:cNvSpPr/>
          <p:nvPr/>
        </p:nvSpPr>
        <p:spPr>
          <a:xfrm>
            <a:off x="330200" y="925040"/>
            <a:ext cx="2801673" cy="2859559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CA46377-AC75-4746-938A-7E687804D1C9}"/>
              </a:ext>
            </a:extLst>
          </p:cNvPr>
          <p:cNvSpPr/>
          <p:nvPr/>
        </p:nvSpPr>
        <p:spPr>
          <a:xfrm>
            <a:off x="7251702" y="912920"/>
            <a:ext cx="2900648" cy="2960579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9640DACE-2C75-4EA4-98F3-0E5D41D46165}"/>
              </a:ext>
            </a:extLst>
          </p:cNvPr>
          <p:cNvSpPr/>
          <p:nvPr/>
        </p:nvSpPr>
        <p:spPr>
          <a:xfrm>
            <a:off x="0" y="3784600"/>
            <a:ext cx="3886200" cy="1562100"/>
          </a:xfrm>
          <a:prstGeom prst="roundRect">
            <a:avLst>
              <a:gd name="adj" fmla="val 17880"/>
            </a:avLst>
          </a:prstGeom>
          <a:solidFill>
            <a:srgbClr val="CCEEF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501082D0-7C6F-4A61-ADD8-700D176D4941}"/>
              </a:ext>
            </a:extLst>
          </p:cNvPr>
          <p:cNvSpPr/>
          <p:nvPr/>
        </p:nvSpPr>
        <p:spPr>
          <a:xfrm>
            <a:off x="114300" y="3941484"/>
            <a:ext cx="3771900" cy="1405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000" b="1" dirty="0" err="1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Name:ibraahim</a:t>
            </a:r>
            <a:r>
              <a:rPr lang="en-US" sz="2000" b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Bashiir</a:t>
            </a:r>
            <a:r>
              <a:rPr lang="en-US" sz="2000" b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Kilwe</a:t>
            </a:r>
            <a:endParaRPr lang="en-US" sz="2000" b="1" dirty="0">
              <a:solidFill>
                <a:srgbClr val="272525"/>
              </a:solidFill>
              <a:latin typeface="Times New Roman" panose="02020603050405020304" pitchFamily="18" charset="0"/>
              <a:ea typeface="Inter" pitchFamily="34" charset="-122"/>
              <a:cs typeface="Times New Roman" panose="02020603050405020304" pitchFamily="18" charset="0"/>
            </a:endParaRPr>
          </a:p>
          <a:p>
            <a:pPr marL="0" indent="0" algn="ctr">
              <a:lnSpc>
                <a:spcPts val="2250"/>
              </a:lnSpc>
              <a:buNone/>
            </a:pPr>
            <a:endParaRPr lang="en-US" sz="2000" b="1" dirty="0">
              <a:solidFill>
                <a:srgbClr val="272525"/>
              </a:solidFill>
              <a:latin typeface="Times New Roman" panose="02020603050405020304" pitchFamily="18" charset="0"/>
              <a:ea typeface="Inter" pitchFamily="34" charset="-122"/>
              <a:cs typeface="Times New Roman" panose="02020603050405020304" pitchFamily="18" charset="0"/>
            </a:endParaRPr>
          </a:p>
          <a:p>
            <a:pPr marL="0" indent="0" algn="ctr">
              <a:lnSpc>
                <a:spcPts val="2250"/>
              </a:lnSpc>
              <a:buNone/>
            </a:pPr>
            <a:r>
              <a:rPr lang="en-US" sz="2000" b="1" dirty="0" err="1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Title:Software</a:t>
            </a:r>
            <a:r>
              <a:rPr lang="en-US" sz="2000" b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Engneering</a:t>
            </a:r>
            <a:endParaRPr lang="en-US" sz="2000" b="1" dirty="0">
              <a:solidFill>
                <a:srgbClr val="272525"/>
              </a:solidFill>
              <a:latin typeface="Times New Roman" panose="02020603050405020304" pitchFamily="18" charset="0"/>
              <a:ea typeface="Inter" pitchFamily="34" charset="-122"/>
              <a:cs typeface="Times New Roman" panose="02020603050405020304" pitchFamily="18" charset="0"/>
            </a:endParaRPr>
          </a:p>
          <a:p>
            <a:pPr marL="0" indent="0" algn="ctr">
              <a:lnSpc>
                <a:spcPts val="2250"/>
              </a:lnSpc>
              <a:buNone/>
            </a:pPr>
            <a:endParaRPr lang="en-US" sz="2000" b="1" dirty="0">
              <a:solidFill>
                <a:srgbClr val="272525"/>
              </a:solidFill>
              <a:latin typeface="Times New Roman" panose="02020603050405020304" pitchFamily="18" charset="0"/>
              <a:ea typeface="Inter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Shape 0">
            <a:extLst>
              <a:ext uri="{FF2B5EF4-FFF2-40B4-BE49-F238E27FC236}">
                <a16:creationId xmlns:a16="http://schemas.microsoft.com/office/drawing/2014/main" id="{36CED678-13B8-4E88-99B6-83B565086BD4}"/>
              </a:ext>
            </a:extLst>
          </p:cNvPr>
          <p:cNvSpPr/>
          <p:nvPr/>
        </p:nvSpPr>
        <p:spPr>
          <a:xfrm>
            <a:off x="6616700" y="3873500"/>
            <a:ext cx="4533900" cy="1562100"/>
          </a:xfrm>
          <a:prstGeom prst="roundRect">
            <a:avLst>
              <a:gd name="adj" fmla="val 17880"/>
            </a:avLst>
          </a:prstGeom>
          <a:solidFill>
            <a:srgbClr val="CCEEF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56B3AEA8-EEEB-47EF-A517-C492152A52D0}"/>
              </a:ext>
            </a:extLst>
          </p:cNvPr>
          <p:cNvSpPr/>
          <p:nvPr/>
        </p:nvSpPr>
        <p:spPr>
          <a:xfrm>
            <a:off x="6731000" y="4030384"/>
            <a:ext cx="4013200" cy="1405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000" b="1" dirty="0" err="1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Name:Cabdalla</a:t>
            </a:r>
            <a:r>
              <a:rPr lang="en-US" sz="2000" b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Firin</a:t>
            </a:r>
            <a:r>
              <a:rPr lang="en-US" sz="2000" b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Said</a:t>
            </a:r>
          </a:p>
          <a:p>
            <a:pPr marL="0" indent="0" algn="ctr">
              <a:lnSpc>
                <a:spcPts val="2250"/>
              </a:lnSpc>
              <a:buNone/>
            </a:pPr>
            <a:endParaRPr lang="en-US" sz="2000" b="1" dirty="0">
              <a:solidFill>
                <a:srgbClr val="272525"/>
              </a:solidFill>
              <a:latin typeface="Times New Roman" panose="02020603050405020304" pitchFamily="18" charset="0"/>
              <a:ea typeface="Inter" pitchFamily="34" charset="-122"/>
              <a:cs typeface="Times New Roman" panose="02020603050405020304" pitchFamily="18" charset="0"/>
            </a:endParaRPr>
          </a:p>
          <a:p>
            <a:pPr marL="0" indent="0" algn="ctr">
              <a:lnSpc>
                <a:spcPts val="2250"/>
              </a:lnSpc>
              <a:buNone/>
            </a:pPr>
            <a:r>
              <a:rPr lang="en-US" sz="2000" b="1" dirty="0" err="1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Title:Software</a:t>
            </a:r>
            <a:r>
              <a:rPr lang="en-US" sz="2000" b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Engneering</a:t>
            </a:r>
            <a:endParaRPr lang="en-US" sz="2000" b="1" dirty="0">
              <a:solidFill>
                <a:srgbClr val="272525"/>
              </a:solidFill>
              <a:latin typeface="Times New Roman" panose="02020603050405020304" pitchFamily="18" charset="0"/>
              <a:ea typeface="Inter" pitchFamily="34" charset="-122"/>
              <a:cs typeface="Times New Roman" panose="02020603050405020304" pitchFamily="18" charset="0"/>
            </a:endParaRPr>
          </a:p>
          <a:p>
            <a:pPr marL="0" indent="0" algn="ctr">
              <a:lnSpc>
                <a:spcPts val="2250"/>
              </a:lnSpc>
              <a:buNone/>
            </a:pPr>
            <a:endParaRPr lang="en-US" sz="2000" b="1" dirty="0">
              <a:solidFill>
                <a:srgbClr val="272525"/>
              </a:solidFill>
              <a:latin typeface="Times New Roman" panose="02020603050405020304" pitchFamily="18" charset="0"/>
              <a:ea typeface="Inter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Shape 0">
            <a:extLst>
              <a:ext uri="{FF2B5EF4-FFF2-40B4-BE49-F238E27FC236}">
                <a16:creationId xmlns:a16="http://schemas.microsoft.com/office/drawing/2014/main" id="{C56AE42D-C46C-4EA4-8F0F-367C728FC314}"/>
              </a:ext>
            </a:extLst>
          </p:cNvPr>
          <p:cNvSpPr/>
          <p:nvPr/>
        </p:nvSpPr>
        <p:spPr>
          <a:xfrm>
            <a:off x="3957371" y="579716"/>
            <a:ext cx="3294331" cy="430306"/>
          </a:xfrm>
          <a:prstGeom prst="roundRect">
            <a:avLst>
              <a:gd name="adj" fmla="val 17880"/>
            </a:avLst>
          </a:prstGeom>
          <a:solidFill>
            <a:srgbClr val="CCEEFF"/>
          </a:solidFill>
          <a:ln/>
        </p:spPr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E0F33919-D6EC-4C2C-AA42-131B1AD95DD5}"/>
              </a:ext>
            </a:extLst>
          </p:cNvPr>
          <p:cNvSpPr/>
          <p:nvPr/>
        </p:nvSpPr>
        <p:spPr>
          <a:xfrm>
            <a:off x="4896527" y="676818"/>
            <a:ext cx="1416021" cy="236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Meet The </a:t>
            </a:r>
            <a:r>
              <a:rPr lang="en-US" sz="2400" b="1" dirty="0" err="1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Devolopers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55351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B7B8B-3872-447A-AF00-EC38C39A2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BDC32-9E58-40DC-96BB-723C7F81E6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chemeClr val="bg1"/>
                </a:solidFill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41857844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848</TotalTime>
  <Words>568</Words>
  <Application>Microsoft Office PowerPoint</Application>
  <PresentationFormat>Widescreen</PresentationFormat>
  <Paragraphs>85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Helvetica</vt:lpstr>
      <vt:lpstr>Inter</vt:lpstr>
      <vt:lpstr>Petrona Bold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Xoosh Docol</dc:creator>
  <cp:lastModifiedBy>User</cp:lastModifiedBy>
  <cp:revision>29</cp:revision>
  <dcterms:created xsi:type="dcterms:W3CDTF">2025-12-21T15:47:50Z</dcterms:created>
  <dcterms:modified xsi:type="dcterms:W3CDTF">2026-01-02T05:29:25Z</dcterms:modified>
</cp:coreProperties>
</file>