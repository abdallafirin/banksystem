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6858000" cx="12192000"/>
  <p:notesSz cx="6858000" cy="9144000"/>
  <p:embeddedFontLst>
    <p:embeddedFont>
      <p:font typeface="Poppins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  <p:embeddedFont>
      <p:font typeface="Lato Light"/>
      <p:regular r:id="rId22"/>
      <p:bold r:id="rId23"/>
      <p:italic r:id="rId24"/>
      <p:boldItalic r:id="rId25"/>
    </p:embeddedFont>
    <p:embeddedFont>
      <p:font typeface="Poppins SemiBold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32B5DA4-5B2D-43C1-B042-C368CEF3EA90}">
  <a:tblStyle styleId="{E32B5DA4-5B2D-43C1-B042-C368CEF3EA9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22" Type="http://schemas.openxmlformats.org/officeDocument/2006/relationships/font" Target="fonts/LatoLight-regular.fntdata"/><Relationship Id="rId21" Type="http://schemas.openxmlformats.org/officeDocument/2006/relationships/font" Target="fonts/Lato-boldItalic.fntdata"/><Relationship Id="rId24" Type="http://schemas.openxmlformats.org/officeDocument/2006/relationships/font" Target="fonts/LatoLight-italic.fntdata"/><Relationship Id="rId23" Type="http://schemas.openxmlformats.org/officeDocument/2006/relationships/font" Target="fonts/LatoLigh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SemiBold-regular.fntdata"/><Relationship Id="rId25" Type="http://schemas.openxmlformats.org/officeDocument/2006/relationships/font" Target="fonts/LatoLight-boldItalic.fntdata"/><Relationship Id="rId28" Type="http://schemas.openxmlformats.org/officeDocument/2006/relationships/font" Target="fonts/PoppinsSemiBold-italic.fntdata"/><Relationship Id="rId27" Type="http://schemas.openxmlformats.org/officeDocument/2006/relationships/font" Target="fonts/PoppinsSemi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Poppins-bold.fntdata"/><Relationship Id="rId14" Type="http://schemas.openxmlformats.org/officeDocument/2006/relationships/font" Target="fonts/Poppins-regular.fntdata"/><Relationship Id="rId17" Type="http://schemas.openxmlformats.org/officeDocument/2006/relationships/font" Target="fonts/Poppins-boldItalic.fntdata"/><Relationship Id="rId16" Type="http://schemas.openxmlformats.org/officeDocument/2006/relationships/font" Target="fonts/Poppins-italic.fntdata"/><Relationship Id="rId19" Type="http://schemas.openxmlformats.org/officeDocument/2006/relationships/font" Target="fonts/Lato-bold.fntdata"/><Relationship Id="rId1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49bc854f5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49bc854f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Relationship Id="rId4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2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10" Type="http://schemas.openxmlformats.org/officeDocument/2006/relationships/image" Target="../media/image18.png"/><Relationship Id="rId9" Type="http://schemas.openxmlformats.org/officeDocument/2006/relationships/image" Target="../media/image28.png"/><Relationship Id="rId5" Type="http://schemas.openxmlformats.org/officeDocument/2006/relationships/image" Target="../media/image20.png"/><Relationship Id="rId6" Type="http://schemas.openxmlformats.org/officeDocument/2006/relationships/image" Target="../media/image25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2400" y="4263330"/>
            <a:ext cx="4267200" cy="13811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752336" y="2208594"/>
            <a:ext cx="6620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Amal Bank </a:t>
            </a:r>
            <a:r>
              <a:rPr b="1" lang="en-US" sz="4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Somalia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929075" y="3120306"/>
            <a:ext cx="4333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rPr>
              <a:t>Digital Marketing &amp; Branding Strategy</a:t>
            </a:r>
            <a:r>
              <a:rPr lang="en-US" sz="18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rPr>
              <a:t>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962400" y="4653855"/>
            <a:ext cx="4267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Group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929075" y="3873280"/>
            <a:ext cx="4267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Software Class Assignment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89" name="Google Shape;89;p13" title="download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7025" y="529725"/>
            <a:ext cx="7924075" cy="150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400675"/>
            <a:ext cx="106680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543050"/>
            <a:ext cx="504825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1543050"/>
            <a:ext cx="504825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5181600"/>
            <a:ext cx="1066800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1095375" y="1914525"/>
            <a:ext cx="46005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Market Positioning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95375" y="2476500"/>
            <a:ext cx="4381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Amal Bank stands as one of the largest financial institutions in Somalia, serving as a pillar for modern banking services.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95375" y="3581400"/>
            <a:ext cx="4381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It specializes in Sharia-compliant financial solutions, catering to both local and international Somali communities.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715125" y="1914525"/>
            <a:ext cx="46005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Global Connectivity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715125" y="2476500"/>
            <a:ext cx="4381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leader in the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Somali International Payment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sector, facilitating seamless transactions across borders.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715125" y="3276600"/>
            <a:ext cx="4381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Mission-driven approach focused on providing secure, ethical, and accessible financial services to the public.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52500" y="571500"/>
            <a:ext cx="457057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AMAL BANK OVERVIEW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62000" y="571500"/>
            <a:ext cx="76200" cy="542925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543050"/>
            <a:ext cx="50482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762000" y="1543050"/>
            <a:ext cx="530066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Facebook Strategy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543050"/>
            <a:ext cx="50482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1095375" y="2066925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Primary Channel: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Facebook serves as the central hub for customer engagement.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095375" y="2819400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High Frequency: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Active posting schedule with approximately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 posts per day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095375" y="3571875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Content Mix: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Strategic use of high-quality posters, images, and marketing videos.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095375" y="4324350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Visual Dominance: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Static posters and images are the most common content types utilized.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52500" y="571500"/>
            <a:ext cx="494061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SOCIAL MEDIA PRESENCE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762000" y="571500"/>
            <a:ext cx="76200" cy="542925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0669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8194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5718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32435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2443162"/>
            <a:ext cx="550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Visual Identity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2986087"/>
            <a:ext cx="5238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Amal Bank maintains a high level of brand consistency across all digital touchpoints.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1047750" y="3786187"/>
            <a:ext cx="4762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Slogan: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"Your Future. Our Mission"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047750" y="4329112"/>
            <a:ext cx="4762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Color Palette: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Professional Navy Blue and White.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1047750" y="4872037"/>
            <a:ext cx="4762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Logo Quality: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Clear, modern, and highly recognizable.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BRANDING ANALYSIS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71500" y="571500"/>
            <a:ext cx="76200" cy="6192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8618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32911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87203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title="download (10)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94585" y="1422448"/>
            <a:ext cx="4013100" cy="401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543050"/>
            <a:ext cx="50482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6381750" y="1543050"/>
            <a:ext cx="530066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Brand Consistency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381750" y="210502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Amal Bank maintains a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unified visual identity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across all social media platforms and digital touchpoints.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638925" y="3016624"/>
            <a:ext cx="4714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Website UI/UX: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Modern, well-designed, and exceptionally user-friendly.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638925" y="3769099"/>
            <a:ext cx="4714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Regular Updates: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digital platform is maintained and updated frequently to ensure reliability.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952500" y="571500"/>
            <a:ext cx="4320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285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WEBSITE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762000" y="571500"/>
            <a:ext cx="76200" cy="542925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4" name="Google Shape;15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5550" y="301662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5550" y="376909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title="Screenshot 2026-04-05 09461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6150" y="2217163"/>
            <a:ext cx="5048251" cy="2199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2" name="Google Shape;162;p18"/>
          <p:cNvGraphicFramePr/>
          <p:nvPr/>
        </p:nvGraphicFramePr>
        <p:xfrm>
          <a:off x="762000" y="17335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{E32B5DA4-5B2D-43C1-B042-C368CEF3EA90}</a:tableStyleId>
              </a:tblPr>
              <a:tblGrid>
                <a:gridCol w="1952775"/>
                <a:gridCol w="7277100"/>
                <a:gridCol w="1438125"/>
              </a:tblGrid>
              <a:tr h="69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Audit Category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Detail / Evaluation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147"/>
                    </a:solidFill>
                  </a:tcPr>
                </a:tc>
              </a:tr>
              <a:tr h="69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Branding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Highly consistent visual identity and clear professional logo across all channels.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Web Presence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Excellent website design with high usability and regular content updates.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Platform Reach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Limited platform diversity; lack of presence on TikTok and Instagram.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Content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Over-reliance on static posters rather than interactive or short-form video content.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" name="Google Shape;163;p18"/>
          <p:cNvSpPr/>
          <p:nvPr/>
        </p:nvSpPr>
        <p:spPr>
          <a:xfrm>
            <a:off x="762000" y="3100387"/>
            <a:ext cx="19527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2714773" y="3100387"/>
            <a:ext cx="7277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9991873" y="3100387"/>
            <a:ext cx="14381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762000" y="3795712"/>
            <a:ext cx="19527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2714773" y="3795712"/>
            <a:ext cx="7277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9991873" y="3795712"/>
            <a:ext cx="14381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762000" y="4491037"/>
            <a:ext cx="19527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2714773" y="4491037"/>
            <a:ext cx="7277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9991873" y="4491037"/>
            <a:ext cx="14381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762000" y="5186362"/>
            <a:ext cx="19527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2714773" y="5186362"/>
            <a:ext cx="7277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9991873" y="5186362"/>
            <a:ext cx="14381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5" name="Google Shape;17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91873" y="2657475"/>
            <a:ext cx="981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82373" y="3352800"/>
            <a:ext cx="981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82373" y="4048125"/>
            <a:ext cx="10287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82373" y="4743450"/>
            <a:ext cx="10287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952500" y="571500"/>
            <a:ext cx="5510688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STRENGTHS &amp; WEAKNESSES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762000" y="571500"/>
            <a:ext cx="76200" cy="542925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543050"/>
            <a:ext cx="3365450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1543050"/>
            <a:ext cx="3365450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543050"/>
            <a:ext cx="3365450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5519737"/>
            <a:ext cx="5238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35100" y="183832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987902" y="2447925"/>
            <a:ext cx="291364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Platform Expansion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1057275" y="3009900"/>
            <a:ext cx="2774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Launch official profiles on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TikTok and Instagram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to engage younger demographics and increase reach.</a:t>
            </a:r>
            <a:endParaRPr/>
          </a:p>
        </p:txBody>
      </p:sp>
      <p:pic>
        <p:nvPicPr>
          <p:cNvPr descr="image.png" id="193" name="Google Shape;193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57726" y="1838325"/>
            <a:ext cx="47625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4639102" y="2447925"/>
            <a:ext cx="291364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Video-First Content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4708475" y="3009900"/>
            <a:ext cx="27749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Pivot toward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short-form video content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(Reels/TikToks) to explain services and increase engagement.</a:t>
            </a:r>
            <a:endParaRPr/>
          </a:p>
        </p:txBody>
      </p:sp>
      <p:pic>
        <p:nvPicPr>
          <p:cNvPr descr="image.png" id="196" name="Google Shape;196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37501" y="183832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8290303" y="2447925"/>
            <a:ext cx="291364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Digital Support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8359675" y="3009900"/>
            <a:ext cx="2774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Enhance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customer support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on social media to provide real-time responses to customer inquiries.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1866900" y="4991100"/>
            <a:ext cx="8491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Interactive Marketing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1866900" y="5364816"/>
            <a:ext cx="8086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Introduce live Q&amp;A sessions and interactive polls to explain complex banking products to the public.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952500" y="571500"/>
            <a:ext cx="641080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STRATEGIC RECOMMENDATIONS</a:t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762000" y="571500"/>
            <a:ext cx="76200" cy="542925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